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97C3AA-D0E6-4E59-92BE-A8A7829124EF}"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23F960-9AE1-4DB1-B75C-D53AC67A737F}" type="slidenum">
              <a:rPr lang="en-US" smtClean="0"/>
              <a:t>‹#›</a:t>
            </a:fld>
            <a:endParaRPr lang="en-US"/>
          </a:p>
        </p:txBody>
      </p:sp>
    </p:spTree>
    <p:extLst>
      <p:ext uri="{BB962C8B-B14F-4D97-AF65-F5344CB8AC3E}">
        <p14:creationId xmlns:p14="http://schemas.microsoft.com/office/powerpoint/2010/main" val="3381456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the constraint everyone in the room already knows: the task queue can grow faster than one checkout can absorb. I had more than one hundred AwesomeHR Asana tasks; almost fifty have now gone through Factory. The model was not the first bottleneck. The development environment was.</a:t>
            </a:r>
          </a:p>
          <a:p>
            <a:endParaRPr lang="en-US"/>
          </a:p>
          <a:p>
            <a:r>
              <a:rPr lang="en-US"/>
              <a:t>[Sources]</a:t>
            </a:r>
          </a:p>
          <a:p>
            <a:r>
              <a:rPr lang="en-US"/>
              <a:t>- Presenter-provided AwesomeHR task statistics, 2026-08-17.</a:t>
            </a:r>
          </a:p>
          <a:p>
            <a:r>
              <a:rPr lang="en-US"/>
              <a:t>- README.md — Claude Factory overview and persistent development queue.</a:t>
            </a:r>
          </a:p>
        </p:txBody>
      </p:sp>
      <p:sp>
        <p:nvSpPr>
          <p:cNvPr id="4" name="Slide Number Placeholder 3"/>
          <p:cNvSpPr>
            <a:spLocks noGrp="1"/>
          </p:cNvSpPr>
          <p:nvPr>
            <p:ph type="sldNum" sz="quarter" idx="5"/>
          </p:nvPr>
        </p:nvSpPr>
        <p:spPr/>
        <p:txBody>
          <a:bodyPr/>
          <a:lstStyle/>
          <a:p>
            <a:fld id="{A823F960-9AE1-4DB1-B75C-D53AC67A737F}" type="slidenum">
              <a:rPr lang="en-US" smtClean="0"/>
              <a:t>1</a:t>
            </a:fld>
            <a:endParaRPr lang="en-US"/>
          </a:p>
        </p:txBody>
      </p:sp>
    </p:spTree>
    <p:extLst>
      <p:ext uri="{BB962C8B-B14F-4D97-AF65-F5344CB8AC3E}">
        <p14:creationId xmlns:p14="http://schemas.microsoft.com/office/powerpoint/2010/main" val="2592255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all know the Git answer: use worktrees. But that only isolates files and branches. Somebody still creates them, runs Composer and npm, manages vendor and node_modules, avoids database collisions, tracks processes and ports, and removes all of it safely. That somebody should not be the developer.</a:t>
            </a:r>
          </a:p>
          <a:p>
            <a:endParaRPr lang="en-US"/>
          </a:p>
          <a:p>
            <a:r>
              <a:rPr lang="en-US"/>
              <a:t>[Sources]</a:t>
            </a:r>
          </a:p>
          <a:p>
            <a:r>
              <a:rPr lang="en-US"/>
              <a:t>- Presenter-provided opening framing, 2026-08-17.</a:t>
            </a:r>
          </a:p>
          <a:p>
            <a:r>
              <a:rPr lang="en-US"/>
              <a:t>- README.md — external worktrees and lifecycle.</a:t>
            </a:r>
          </a:p>
          <a:p>
            <a:r>
              <a:rPr lang="en-US"/>
              <a:t>- docs/tasks/TASK-worktree-test-database-isolation.md — database collision problem.</a:t>
            </a:r>
          </a:p>
        </p:txBody>
      </p:sp>
      <p:sp>
        <p:nvSpPr>
          <p:cNvPr id="4" name="Slide Number Placeholder 3"/>
          <p:cNvSpPr>
            <a:spLocks noGrp="1"/>
          </p:cNvSpPr>
          <p:nvPr>
            <p:ph type="sldNum" sz="quarter" idx="5"/>
          </p:nvPr>
        </p:nvSpPr>
        <p:spPr/>
        <p:txBody>
          <a:bodyPr/>
          <a:lstStyle/>
          <a:p>
            <a:fld id="{A823F960-9AE1-4DB1-B75C-D53AC67A737F}" type="slidenum">
              <a:rPr lang="en-US" smtClean="0"/>
              <a:t>2</a:t>
            </a:fld>
            <a:endParaRPr lang="en-US"/>
          </a:p>
        </p:txBody>
      </p:sp>
    </p:spTree>
    <p:extLst>
      <p:ext uri="{BB962C8B-B14F-4D97-AF65-F5344CB8AC3E}">
        <p14:creationId xmlns:p14="http://schemas.microsoft.com/office/powerpoint/2010/main" val="150154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Factory treats the environment, not the chat, as the unit of concurrency. Every active task has its own external worktree, branch, worker session, test database when isolation is enabled, checks and single task commit. Concurrency can change while the queue is running; decreasing it never kills active workers.</a:t>
            </a:r>
          </a:p>
          <a:p>
            <a:endParaRPr lang="en-US"/>
          </a:p>
          <a:p>
            <a:r>
              <a:rPr lang="en-US"/>
              <a:t>[Sources]</a:t>
            </a:r>
          </a:p>
          <a:p>
            <a:r>
              <a:rPr lang="en-US"/>
              <a:t>- README.md — start modes, dynamic concurrency and one-task commit.</a:t>
            </a:r>
          </a:p>
          <a:p>
            <a:r>
              <a:rPr lang="en-US"/>
              <a:t>- config.default.json — concurrency 3, maxConcurrency 20.</a:t>
            </a:r>
          </a:p>
          <a:p>
            <a:r>
              <a:rPr lang="en-US"/>
              <a:t>- docs/tasks/TASK-worktree-test-database-isolation.md — deterministic worker database.</a:t>
            </a:r>
          </a:p>
        </p:txBody>
      </p:sp>
      <p:sp>
        <p:nvSpPr>
          <p:cNvPr id="4" name="Slide Number Placeholder 3"/>
          <p:cNvSpPr>
            <a:spLocks noGrp="1"/>
          </p:cNvSpPr>
          <p:nvPr>
            <p:ph type="sldNum" sz="quarter" idx="5"/>
          </p:nvPr>
        </p:nvSpPr>
        <p:spPr/>
        <p:txBody>
          <a:bodyPr/>
          <a:lstStyle/>
          <a:p>
            <a:fld id="{A823F960-9AE1-4DB1-B75C-D53AC67A737F}" type="slidenum">
              <a:rPr lang="en-US" smtClean="0"/>
              <a:t>3</a:t>
            </a:fld>
            <a:endParaRPr lang="en-US"/>
          </a:p>
        </p:txBody>
      </p:sp>
    </p:spTree>
    <p:extLst>
      <p:ext uri="{BB962C8B-B14F-4D97-AF65-F5344CB8AC3E}">
        <p14:creationId xmlns:p14="http://schemas.microsoft.com/office/powerpoint/2010/main" val="3202916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Factory is deliberately more than a launcher. Intake can come from read-only Asana normalization, a native local task, or a normalized file. Native code owns state and scheduling. Workers implement in parallel. Review pins the exact commit and plan. Integration is serialized, pushes are non-force, and cleanup only happens after publication is verified.</a:t>
            </a:r>
          </a:p>
          <a:p>
            <a:endParaRPr lang="en-US"/>
          </a:p>
          <a:p>
            <a:r>
              <a:rPr lang="en-US"/>
              <a:t>[Sources]</a:t>
            </a:r>
          </a:p>
          <a:p>
            <a:r>
              <a:rPr lang="en-US"/>
              <a:t>- README.md — end-to-end queue workflow.</a:t>
            </a:r>
          </a:p>
          <a:p>
            <a:r>
              <a:rPr lang="en-US"/>
              <a:t>- docs/tasks/TASK-native-intake-boundary-phase-5.md — source-neutral intake boundary.</a:t>
            </a:r>
          </a:p>
          <a:p>
            <a:r>
              <a:rPr lang="en-US"/>
              <a:t>- docs/tasks/TASK-native-integration-pipeline-phase-4.md — exact-SHA publication.</a:t>
            </a:r>
          </a:p>
          <a:p>
            <a:r>
              <a:rPr lang="en-US"/>
              <a:t>- docs/tasks/TASK-native-factory-scheduler-phase-3.md — native scheduler.</a:t>
            </a:r>
          </a:p>
        </p:txBody>
      </p:sp>
      <p:sp>
        <p:nvSpPr>
          <p:cNvPr id="4" name="Slide Number Placeholder 3"/>
          <p:cNvSpPr>
            <a:spLocks noGrp="1"/>
          </p:cNvSpPr>
          <p:nvPr>
            <p:ph type="sldNum" sz="quarter" idx="5"/>
          </p:nvPr>
        </p:nvSpPr>
        <p:spPr/>
        <p:txBody>
          <a:bodyPr/>
          <a:lstStyle/>
          <a:p>
            <a:fld id="{A823F960-9AE1-4DB1-B75C-D53AC67A737F}" type="slidenum">
              <a:rPr lang="en-US" smtClean="0"/>
              <a:t>4</a:t>
            </a:fld>
            <a:endParaRPr lang="en-US"/>
          </a:p>
        </p:txBody>
      </p:sp>
    </p:spTree>
    <p:extLst>
      <p:ext uri="{BB962C8B-B14F-4D97-AF65-F5344CB8AC3E}">
        <p14:creationId xmlns:p14="http://schemas.microsoft.com/office/powerpoint/2010/main" val="667241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boundary is the design principle. Deterministic operations are code: state, scheduling, worktrees, databases, tests, Git, pushes and cleanup. AI is reserved for interpretation and judgment: normalization, planning, implementation, analysis and review. The Asana connector is read-only, and AI cannot edit state.json or launch a worker directly.</a:t>
            </a:r>
          </a:p>
          <a:p>
            <a:endParaRPr lang="en-US"/>
          </a:p>
          <a:p>
            <a:r>
              <a:rPr lang="en-US"/>
              <a:t>[Sources]</a:t>
            </a:r>
          </a:p>
          <a:p>
            <a:r>
              <a:rPr lang="en-US"/>
              <a:t>- factory help output — “deterministic local commands (no AI interpretation)”.</a:t>
            </a:r>
          </a:p>
          <a:p>
            <a:r>
              <a:rPr lang="en-US"/>
              <a:t>- README.md — native commands versus judgment-heavy workflows.</a:t>
            </a:r>
          </a:p>
          <a:p>
            <a:r>
              <a:rPr lang="en-US"/>
              <a:t>- docs/tasks/TASK-native-intake-boundary-phase-5.md — AI cannot mutate queue identity or state.</a:t>
            </a:r>
          </a:p>
          <a:p>
            <a:r>
              <a:rPr lang="en-US"/>
              <a:t>- docs/tasks/TASK-native-integration-pipeline-phase-4.md — native publication pipeline.</a:t>
            </a:r>
          </a:p>
        </p:txBody>
      </p:sp>
      <p:sp>
        <p:nvSpPr>
          <p:cNvPr id="4" name="Slide Number Placeholder 3"/>
          <p:cNvSpPr>
            <a:spLocks noGrp="1"/>
          </p:cNvSpPr>
          <p:nvPr>
            <p:ph type="sldNum" sz="quarter" idx="5"/>
          </p:nvPr>
        </p:nvSpPr>
        <p:spPr/>
        <p:txBody>
          <a:bodyPr/>
          <a:lstStyle/>
          <a:p>
            <a:fld id="{A823F960-9AE1-4DB1-B75C-D53AC67A737F}" type="slidenum">
              <a:rPr lang="en-US" smtClean="0"/>
              <a:t>5</a:t>
            </a:fld>
            <a:endParaRPr lang="en-US"/>
          </a:p>
        </p:txBody>
      </p:sp>
    </p:spTree>
    <p:extLst>
      <p:ext uri="{BB962C8B-B14F-4D97-AF65-F5344CB8AC3E}">
        <p14:creationId xmlns:p14="http://schemas.microsoft.com/office/powerpoint/2010/main" val="3164946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Preview is the visible payoff. One command starts Laravel and Vite from the exact worker worktree on private loopback ports. Starting a preview for another task stops the previous process trees first. Compatible dependency directories can be linked safely and the temporary artifacts are cleaned later. The preview uses the development environment; the isolated per-worker database is for test commands.</a:t>
            </a:r>
          </a:p>
          <a:p>
            <a:endParaRPr lang="en-US"/>
          </a:p>
          <a:p>
            <a:r>
              <a:rPr lang="en-US"/>
              <a:t>[Sources]</a:t>
            </a:r>
          </a:p>
          <a:p>
            <a:r>
              <a:rPr lang="en-US"/>
              <a:t>- Actual local output of factory help preview, captured 2026-08-17.</a:t>
            </a:r>
          </a:p>
          <a:p>
            <a:r>
              <a:rPr lang="en-US"/>
              <a:t>- README.md — native worktree preview behavior.</a:t>
            </a:r>
          </a:p>
          <a:p>
            <a:r>
              <a:rPr lang="en-US"/>
              <a:t>- CHANGELOG.md — preview ports, process identity and dependency reuse.</a:t>
            </a:r>
          </a:p>
          <a:p>
            <a:r>
              <a:rPr lang="en-US"/>
              <a:t>- config.default.json — preview port ranges and dependencyLinks.</a:t>
            </a:r>
          </a:p>
        </p:txBody>
      </p:sp>
      <p:sp>
        <p:nvSpPr>
          <p:cNvPr id="4" name="Slide Number Placeholder 3"/>
          <p:cNvSpPr>
            <a:spLocks noGrp="1"/>
          </p:cNvSpPr>
          <p:nvPr>
            <p:ph type="sldNum" sz="quarter" idx="5"/>
          </p:nvPr>
        </p:nvSpPr>
        <p:spPr/>
        <p:txBody>
          <a:bodyPr/>
          <a:lstStyle/>
          <a:p>
            <a:fld id="{A823F960-9AE1-4DB1-B75C-D53AC67A737F}" type="slidenum">
              <a:rPr lang="en-US" smtClean="0"/>
              <a:t>6</a:t>
            </a:fld>
            <a:endParaRPr lang="en-US"/>
          </a:p>
        </p:txBody>
      </p:sp>
    </p:spTree>
    <p:extLst>
      <p:ext uri="{BB962C8B-B14F-4D97-AF65-F5344CB8AC3E}">
        <p14:creationId xmlns:p14="http://schemas.microsoft.com/office/powerpoint/2010/main" val="1633824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Factory is no longer an Asana-only workflow. I can run factory new with no text, open the printed chat command, paste a GitHub issue into the worker and refine the plan there. I can also create a task with text, use auto mode for a clear brief, or import a normalized envelope. The GitHub URL is conversational input inside the worker; there is not yet a native GitHub intake adapter.</a:t>
            </a:r>
          </a:p>
          <a:p>
            <a:endParaRPr lang="en-US"/>
          </a:p>
          <a:p>
            <a:r>
              <a:rPr lang="en-US"/>
              <a:t>[Sources]</a:t>
            </a:r>
          </a:p>
          <a:p>
            <a:r>
              <a:rPr lang="en-US"/>
              <a:t>- README.md — native local task creation and chat handoff.</a:t>
            </a:r>
          </a:p>
          <a:p>
            <a:r>
              <a:rPr lang="en-US"/>
              <a:t>- docs/tasks/TASK-native-local-task-intake.md — empty interactive task behavior.</a:t>
            </a:r>
          </a:p>
          <a:p>
            <a:r>
              <a:rPr lang="en-US"/>
              <a:t>- Presenter-provided GitHub-in-worker workflow, 2026-08-17.</a:t>
            </a:r>
          </a:p>
        </p:txBody>
      </p:sp>
      <p:sp>
        <p:nvSpPr>
          <p:cNvPr id="4" name="Slide Number Placeholder 3"/>
          <p:cNvSpPr>
            <a:spLocks noGrp="1"/>
          </p:cNvSpPr>
          <p:nvPr>
            <p:ph type="sldNum" sz="quarter" idx="5"/>
          </p:nvPr>
        </p:nvSpPr>
        <p:spPr/>
        <p:txBody>
          <a:bodyPr/>
          <a:lstStyle/>
          <a:p>
            <a:fld id="{A823F960-9AE1-4DB1-B75C-D53AC67A737F}" type="slidenum">
              <a:rPr lang="en-US" smtClean="0"/>
              <a:t>7</a:t>
            </a:fld>
            <a:endParaRPr lang="en-US"/>
          </a:p>
        </p:txBody>
      </p:sp>
    </p:spTree>
    <p:extLst>
      <p:ext uri="{BB962C8B-B14F-4D97-AF65-F5344CB8AC3E}">
        <p14:creationId xmlns:p14="http://schemas.microsoft.com/office/powerpoint/2010/main" val="3219813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product has one precise runtime boundary: Claude Code is the lead orchestrator. Newly launched workers can use Claude Code or Codex. They get the same worktree, database and checks contract. Codex threads do not appear in Claude Agent View, so Factory exposes the same task-oriented status, chat and doctor commands across both runtimes.</a:t>
            </a:r>
          </a:p>
          <a:p>
            <a:endParaRPr lang="en-US"/>
          </a:p>
          <a:p>
            <a:r>
              <a:rPr lang="en-US"/>
              <a:t>[Sources]</a:t>
            </a:r>
          </a:p>
          <a:p>
            <a:r>
              <a:rPr lang="en-US"/>
              <a:t>- README.md — worker runtime selection and Claude orchestrator.</a:t>
            </a:r>
          </a:p>
          <a:p>
            <a:r>
              <a:rPr lang="en-US"/>
              <a:t>- factory help start — -Agent changes workers, not the Claude orchestrator.</a:t>
            </a:r>
          </a:p>
          <a:p>
            <a:r>
              <a:rPr lang="en-US"/>
              <a:t>- docs/tasks/SPIKE-codex-worker-session-integration.md — durable Codex threads and Agent View limitation.</a:t>
            </a:r>
          </a:p>
          <a:p>
            <a:r>
              <a:rPr lang="en-US"/>
              <a:t>- config.default.json — workerAgent default and concurrency.</a:t>
            </a:r>
          </a:p>
        </p:txBody>
      </p:sp>
      <p:sp>
        <p:nvSpPr>
          <p:cNvPr id="4" name="Slide Number Placeholder 3"/>
          <p:cNvSpPr>
            <a:spLocks noGrp="1"/>
          </p:cNvSpPr>
          <p:nvPr>
            <p:ph type="sldNum" sz="quarter" idx="5"/>
          </p:nvPr>
        </p:nvSpPr>
        <p:spPr/>
        <p:txBody>
          <a:bodyPr/>
          <a:lstStyle/>
          <a:p>
            <a:fld id="{A823F960-9AE1-4DB1-B75C-D53AC67A737F}" type="slidenum">
              <a:rPr lang="en-US" smtClean="0"/>
              <a:t>8</a:t>
            </a:fld>
            <a:endParaRPr lang="en-US"/>
          </a:p>
        </p:txBody>
      </p:sp>
    </p:spTree>
    <p:extLst>
      <p:ext uri="{BB962C8B-B14F-4D97-AF65-F5344CB8AC3E}">
        <p14:creationId xmlns:p14="http://schemas.microsoft.com/office/powerpoint/2010/main" val="1513412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Prompts are not a security boundary. Factory uses invariants that native code can verify: external worktrees, immutable approval, isolated checks, no-force pushes with reachability verification, and cleanup only after sessions stop. Most of the hard engineering came from lifecycle edges: Windows UTF-8 and argv, stale Agent View rows, junctions that could escape a worktree, and background worker fallback paths that must fail closed.</a:t>
            </a:r>
          </a:p>
          <a:p>
            <a:endParaRPr lang="en-US"/>
          </a:p>
          <a:p>
            <a:r>
              <a:rPr lang="en-US"/>
              <a:t>[Sources]</a:t>
            </a:r>
          </a:p>
          <a:p>
            <a:r>
              <a:rPr lang="en-US"/>
              <a:t>- README.md — human review gate, immutable SHA, non-force push and strict cleanup.</a:t>
            </a:r>
          </a:p>
          <a:p>
            <a:r>
              <a:rPr lang="en-US"/>
              <a:t>- docs/tasks/TASK-native-integration-pipeline-phase-4.md — publication invariants.</a:t>
            </a:r>
          </a:p>
          <a:p>
            <a:r>
              <a:rPr lang="en-US"/>
              <a:t>- docs/tasks/TASK-windows-powershell-native-utf8-capture.md — UTF-8 process boundary.</a:t>
            </a:r>
          </a:p>
          <a:p>
            <a:r>
              <a:rPr lang="en-US"/>
              <a:t>- docs/tasks/TASK-agent-view-session-hygiene.md — PID-aware session cleanup.</a:t>
            </a:r>
          </a:p>
          <a:p>
            <a:r>
              <a:rPr lang="en-US"/>
              <a:t>- docs/tasks/TASK-worker-launch-and-reconcile-integrity.md — junction and stale-session failures.</a:t>
            </a:r>
          </a:p>
        </p:txBody>
      </p:sp>
      <p:sp>
        <p:nvSpPr>
          <p:cNvPr id="4" name="Slide Number Placeholder 3"/>
          <p:cNvSpPr>
            <a:spLocks noGrp="1"/>
          </p:cNvSpPr>
          <p:nvPr>
            <p:ph type="sldNum" sz="quarter" idx="5"/>
          </p:nvPr>
        </p:nvSpPr>
        <p:spPr/>
        <p:txBody>
          <a:bodyPr/>
          <a:lstStyle/>
          <a:p>
            <a:fld id="{A823F960-9AE1-4DB1-B75C-D53AC67A737F}" type="slidenum">
              <a:rPr lang="en-US" smtClean="0"/>
              <a:t>9</a:t>
            </a:fld>
            <a:endParaRPr lang="en-US"/>
          </a:p>
        </p:txBody>
      </p:sp>
    </p:spTree>
    <p:extLst>
      <p:ext uri="{BB962C8B-B14F-4D97-AF65-F5344CB8AC3E}">
        <p14:creationId xmlns:p14="http://schemas.microsoft.com/office/powerpoint/2010/main" val="3329313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not a speculative architecture. More than one hundred AwesomeHR Asana tasks are already closed, almost fifty through Factory. Workers can run on Claude Code or Codex, and today the full lifecycle suite passed across workers, databases, preview switching, review, publication and cleanup. The point is simple: stop managing worktrees by hand; manage a queue with explicit gates.</a:t>
            </a:r>
          </a:p>
          <a:p>
            <a:endParaRPr lang="en-US"/>
          </a:p>
          <a:p>
            <a:r>
              <a:rPr lang="en-US"/>
              <a:t>[Sources]</a:t>
            </a:r>
          </a:p>
          <a:p>
            <a:r>
              <a:rPr lang="en-US"/>
              <a:t>- Presenter-provided AwesomeHR task statistics, 2026-08-17.</a:t>
            </a:r>
          </a:p>
          <a:p>
            <a:r>
              <a:rPr lang="en-US"/>
              <a:t>- README.md — selectable Claude and Codex worker runtimes.</a:t>
            </a:r>
          </a:p>
          <a:p>
            <a:r>
              <a:rPr lang="en-US"/>
              <a:t>- Full Windows PowerShell 5.1 synthetic runtime suite passed on 2026-08-17.</a:t>
            </a:r>
          </a:p>
        </p:txBody>
      </p:sp>
      <p:sp>
        <p:nvSpPr>
          <p:cNvPr id="4" name="Slide Number Placeholder 3"/>
          <p:cNvSpPr>
            <a:spLocks noGrp="1"/>
          </p:cNvSpPr>
          <p:nvPr>
            <p:ph type="sldNum" sz="quarter" idx="5"/>
          </p:nvPr>
        </p:nvSpPr>
        <p:spPr/>
        <p:txBody>
          <a:bodyPr/>
          <a:lstStyle/>
          <a:p>
            <a:fld id="{A823F960-9AE1-4DB1-B75C-D53AC67A737F}" type="slidenum">
              <a:rPr lang="en-US" smtClean="0"/>
              <a:t>10</a:t>
            </a:fld>
            <a:endParaRPr lang="en-US"/>
          </a:p>
        </p:txBody>
      </p:sp>
    </p:spTree>
    <p:extLst>
      <p:ext uri="{BB962C8B-B14F-4D97-AF65-F5344CB8AC3E}">
        <p14:creationId xmlns:p14="http://schemas.microsoft.com/office/powerpoint/2010/main" val="15921666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871B9433-C9E5-43C9-BAE0-1C68CE026B28}" type="datetimeFigureOut">
              <a:rPr lang="en-US" smtClean="0"/>
              <a:t>8/17/2026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14374933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418162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871B9433-C9E5-43C9-BAE0-1C68CE026B28}" type="datetimeFigureOut">
              <a:rPr lang="en-US" smtClean="0"/>
              <a:t>8/17/2026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6657206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23512021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0424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416144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777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815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158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076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871B9433-C9E5-43C9-BAE0-1C68CE026B28}" type="datetimeFigureOut">
              <a:rPr lang="en-US" smtClean="0"/>
              <a:t>8/17/2026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1912798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3855044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3791141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48295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2427285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8127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7498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871B9433-C9E5-43C9-BAE0-1C68CE026B28}" type="datetimeFigureOut">
              <a:rPr lang="en-US" smtClean="0"/>
              <a:t>8/17/2026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9DA42802-E4C8-4D6F-B0D0-53DEA9BE3FA8}"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399245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616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261532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15001383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8030262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20645659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611093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3213951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16564512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527893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9DA42802-E4C8-4D6F-B0D0-53DEA9BE3FA8}"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53447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F63E2E-FE56-C987-42C2-D7E8E78553EE}"/>
              </a:ext>
            </a:extLst>
          </p:cNvPr>
          <p:cNvSpPr/>
          <p:nvPr/>
        </p:nvSpPr>
        <p:spPr>
          <a:xfrm>
            <a:off x="0" y="0"/>
            <a:ext cx="228600" cy="6858000"/>
          </a:xfrm>
          <a:prstGeom prst="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86A998-BFF8-A247-62D6-B2DE921A4908}"/>
              </a:ext>
            </a:extLst>
          </p:cNvPr>
          <p:cNvSpPr txBox="1"/>
          <p:nvPr/>
        </p:nvSpPr>
        <p:spPr>
          <a:xfrm>
            <a:off x="584200" y="495300"/>
            <a:ext cx="5842000" cy="276999"/>
          </a:xfrm>
          <a:prstGeom prst="rect">
            <a:avLst/>
          </a:prstGeom>
          <a:noFill/>
        </p:spPr>
        <p:txBody>
          <a:bodyPr vert="horz" wrap="square" lIns="0" tIns="0" rIns="0" bIns="0" rtlCol="0" anchor="t">
            <a:noAutofit/>
          </a:bodyPr>
          <a:lstStyle/>
          <a:p>
            <a:r>
              <a:rPr lang="en-US" sz="1200" b="1" dirty="0">
                <a:solidFill>
                  <a:srgbClr val="3D8DFF"/>
                </a:solidFill>
                <a:latin typeface="Aptos" panose="020B0004020202020204" pitchFamily="34" charset="0"/>
              </a:rPr>
              <a:t>DEV LIGHTNING TALK · AWESOME MOTIVE</a:t>
            </a:r>
          </a:p>
        </p:txBody>
      </p:sp>
      <p:sp>
        <p:nvSpPr>
          <p:cNvPr id="4" name="TextBox 3">
            <a:extLst>
              <a:ext uri="{FF2B5EF4-FFF2-40B4-BE49-F238E27FC236}">
                <a16:creationId xmlns:a16="http://schemas.microsoft.com/office/drawing/2014/main" id="{94282D3B-B2ED-4841-06E2-63848C9358CB}"/>
              </a:ext>
            </a:extLst>
          </p:cNvPr>
          <p:cNvSpPr txBox="1"/>
          <p:nvPr/>
        </p:nvSpPr>
        <p:spPr>
          <a:xfrm>
            <a:off x="584200" y="1676400"/>
            <a:ext cx="9652000" cy="276999"/>
          </a:xfrm>
          <a:prstGeom prst="rect">
            <a:avLst/>
          </a:prstGeom>
          <a:noFill/>
        </p:spPr>
        <p:txBody>
          <a:bodyPr vert="horz" wrap="square" lIns="0" tIns="0" rIns="0" bIns="0" rtlCol="0" anchor="t">
            <a:noAutofit/>
          </a:bodyPr>
          <a:lstStyle/>
          <a:p>
            <a:r>
              <a:rPr lang="en-US" sz="5800" b="1">
                <a:solidFill>
                  <a:srgbClr val="0B1020"/>
                </a:solidFill>
                <a:latin typeface="Aptos Display" panose="020B0004020202020204" pitchFamily="34" charset="0"/>
              </a:rPr>
              <a:t>Too many tasks.</a:t>
            </a:r>
          </a:p>
          <a:p>
            <a:r>
              <a:rPr lang="en-US" sz="5800" b="1">
                <a:solidFill>
                  <a:srgbClr val="0B1020"/>
                </a:solidFill>
                <a:latin typeface="Aptos Display" panose="020B0004020202020204" pitchFamily="34" charset="0"/>
              </a:rPr>
              <a:t>One checkout.</a:t>
            </a:r>
          </a:p>
        </p:txBody>
      </p:sp>
      <p:cxnSp>
        <p:nvCxnSpPr>
          <p:cNvPr id="5" name="Straight Connector 4">
            <a:extLst>
              <a:ext uri="{FF2B5EF4-FFF2-40B4-BE49-F238E27FC236}">
                <a16:creationId xmlns:a16="http://schemas.microsoft.com/office/drawing/2014/main" id="{635E03B5-7F95-9F40-2629-4B053393E1FF}"/>
              </a:ext>
            </a:extLst>
          </p:cNvPr>
          <p:cNvCxnSpPr/>
          <p:nvPr/>
        </p:nvCxnSpPr>
        <p:spPr>
          <a:xfrm>
            <a:off x="609600" y="4178300"/>
            <a:ext cx="3835400" cy="0"/>
          </a:xfrm>
          <a:prstGeom prst="line">
            <a:avLst/>
          </a:prstGeom>
          <a:ln w="50800">
            <a:solidFill>
              <a:srgbClr val="3D8DF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EB33273-6931-9CB6-1FF6-D8A0AB7786FD}"/>
              </a:ext>
            </a:extLst>
          </p:cNvPr>
          <p:cNvSpPr txBox="1"/>
          <p:nvPr/>
        </p:nvSpPr>
        <p:spPr>
          <a:xfrm>
            <a:off x="584200" y="4635500"/>
            <a:ext cx="4318000" cy="276999"/>
          </a:xfrm>
          <a:prstGeom prst="rect">
            <a:avLst/>
          </a:prstGeom>
          <a:noFill/>
        </p:spPr>
        <p:txBody>
          <a:bodyPr vert="horz" wrap="square" lIns="0" tIns="0" rIns="0" bIns="0" rtlCol="0" anchor="t">
            <a:noAutofit/>
          </a:bodyPr>
          <a:lstStyle/>
          <a:p>
            <a:r>
              <a:rPr lang="en-US" sz="2600" b="1">
                <a:solidFill>
                  <a:srgbClr val="0B1020"/>
                </a:solidFill>
                <a:latin typeface="Aptos" panose="020B0004020202020204" pitchFamily="34" charset="0"/>
              </a:rPr>
              <a:t>Claude Factory</a:t>
            </a:r>
          </a:p>
        </p:txBody>
      </p:sp>
      <p:sp>
        <p:nvSpPr>
          <p:cNvPr id="7" name="TextBox 6">
            <a:extLst>
              <a:ext uri="{FF2B5EF4-FFF2-40B4-BE49-F238E27FC236}">
                <a16:creationId xmlns:a16="http://schemas.microsoft.com/office/drawing/2014/main" id="{22A87252-E149-A53B-F519-BE5341417AE9}"/>
              </a:ext>
            </a:extLst>
          </p:cNvPr>
          <p:cNvSpPr txBox="1"/>
          <p:nvPr/>
        </p:nvSpPr>
        <p:spPr>
          <a:xfrm>
            <a:off x="584200" y="5181600"/>
            <a:ext cx="8128000" cy="276999"/>
          </a:xfrm>
          <a:prstGeom prst="rect">
            <a:avLst/>
          </a:prstGeom>
          <a:noFill/>
        </p:spPr>
        <p:txBody>
          <a:bodyPr vert="horz" wrap="square" lIns="0" tIns="0" rIns="0" bIns="0" rtlCol="0" anchor="t">
            <a:noAutofit/>
          </a:bodyPr>
          <a:lstStyle/>
          <a:p>
            <a:r>
              <a:rPr lang="en-US" sz="2000">
                <a:solidFill>
                  <a:srgbClr val="596579"/>
                </a:solidFill>
                <a:latin typeface="Aptos" panose="020B0004020202020204" pitchFamily="34" charset="0"/>
              </a:rPr>
              <a:t>Parallel AI development without babysitting worktrees</a:t>
            </a:r>
          </a:p>
        </p:txBody>
      </p:sp>
      <p:sp>
        <p:nvSpPr>
          <p:cNvPr id="8" name="TextBox 7">
            <a:extLst>
              <a:ext uri="{FF2B5EF4-FFF2-40B4-BE49-F238E27FC236}">
                <a16:creationId xmlns:a16="http://schemas.microsoft.com/office/drawing/2014/main" id="{64D48517-1098-C7F9-6069-42D723374FD5}"/>
              </a:ext>
            </a:extLst>
          </p:cNvPr>
          <p:cNvSpPr txBox="1"/>
          <p:nvPr/>
        </p:nvSpPr>
        <p:spPr>
          <a:xfrm>
            <a:off x="584200" y="6184900"/>
            <a:ext cx="8255000" cy="276999"/>
          </a:xfrm>
          <a:prstGeom prst="rect">
            <a:avLst/>
          </a:prstGeom>
          <a:noFill/>
        </p:spPr>
        <p:txBody>
          <a:bodyPr vert="horz" wrap="square" lIns="0" tIns="0" rIns="0" bIns="0" rtlCol="0" anchor="t">
            <a:noAutofit/>
          </a:bodyPr>
          <a:lstStyle/>
          <a:p>
            <a:r>
              <a:rPr lang="en-US" sz="1300">
                <a:solidFill>
                  <a:srgbClr val="596579"/>
                </a:solidFill>
                <a:latin typeface="Cascadia Mono" panose="020B0609020000020004" pitchFamily="49" charset="0"/>
              </a:rPr>
              <a:t>100+ AwesomeHR Asana tasks · almost 50 through Factory</a:t>
            </a:r>
          </a:p>
        </p:txBody>
      </p:sp>
    </p:spTree>
    <p:extLst>
      <p:ext uri="{BB962C8B-B14F-4D97-AF65-F5344CB8AC3E}">
        <p14:creationId xmlns:p14="http://schemas.microsoft.com/office/powerpoint/2010/main" val="178504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5F4818-033E-10CB-8936-5BC44F12B9F4}"/>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Worktrees fix Git isolation. Then the chores begin.</a:t>
            </a:r>
          </a:p>
        </p:txBody>
      </p:sp>
      <p:sp>
        <p:nvSpPr>
          <p:cNvPr id="3" name="TextBox 2">
            <a:extLst>
              <a:ext uri="{FF2B5EF4-FFF2-40B4-BE49-F238E27FC236}">
                <a16:creationId xmlns:a16="http://schemas.microsoft.com/office/drawing/2014/main" id="{F6949213-0729-5594-4A16-E546A47B6C59}"/>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2</a:t>
            </a:r>
          </a:p>
        </p:txBody>
      </p:sp>
      <p:sp>
        <p:nvSpPr>
          <p:cNvPr id="4" name="TextBox 3">
            <a:extLst>
              <a:ext uri="{FF2B5EF4-FFF2-40B4-BE49-F238E27FC236}">
                <a16:creationId xmlns:a16="http://schemas.microsoft.com/office/drawing/2014/main" id="{4A530106-CFE8-3F54-C868-F2EAD2CDF932}"/>
              </a:ext>
            </a:extLst>
          </p:cNvPr>
          <p:cNvSpPr txBox="1"/>
          <p:nvPr/>
        </p:nvSpPr>
        <p:spPr>
          <a:xfrm>
            <a:off x="685800" y="1574800"/>
            <a:ext cx="2540000" cy="276999"/>
          </a:xfrm>
          <a:prstGeom prst="rect">
            <a:avLst/>
          </a:prstGeom>
          <a:noFill/>
        </p:spPr>
        <p:txBody>
          <a:bodyPr vert="horz" wrap="square" lIns="0" tIns="0" rIns="0" bIns="0" rtlCol="0" anchor="t">
            <a:noAutofit/>
          </a:bodyPr>
          <a:lstStyle/>
          <a:p>
            <a:r>
              <a:rPr lang="en-US" sz="2600" b="1">
                <a:solidFill>
                  <a:srgbClr val="0B1020"/>
                </a:solidFill>
                <a:latin typeface="Aptos" panose="020B0004020202020204" pitchFamily="34" charset="0"/>
              </a:rPr>
              <a:t>Parallel Git</a:t>
            </a:r>
          </a:p>
        </p:txBody>
      </p:sp>
      <p:sp>
        <p:nvSpPr>
          <p:cNvPr id="5" name="TextBox 4">
            <a:extLst>
              <a:ext uri="{FF2B5EF4-FFF2-40B4-BE49-F238E27FC236}">
                <a16:creationId xmlns:a16="http://schemas.microsoft.com/office/drawing/2014/main" id="{5DF0CAF7-8DC6-16F1-8FD7-B5E0DEE32132}"/>
              </a:ext>
            </a:extLst>
          </p:cNvPr>
          <p:cNvSpPr txBox="1"/>
          <p:nvPr/>
        </p:nvSpPr>
        <p:spPr>
          <a:xfrm>
            <a:off x="3492500" y="1473200"/>
            <a:ext cx="762000" cy="276999"/>
          </a:xfrm>
          <a:prstGeom prst="rect">
            <a:avLst/>
          </a:prstGeom>
          <a:noFill/>
        </p:spPr>
        <p:txBody>
          <a:bodyPr vert="horz" wrap="square" lIns="0" tIns="0" rIns="0" bIns="0" rtlCol="0" anchor="t">
            <a:noAutofit/>
          </a:bodyPr>
          <a:lstStyle/>
          <a:p>
            <a:pPr algn="ctr"/>
            <a:r>
              <a:rPr lang="en-US" sz="3800" b="1">
                <a:solidFill>
                  <a:srgbClr val="3D8DFF"/>
                </a:solidFill>
                <a:latin typeface="Aptos" panose="020B0004020202020204" pitchFamily="34" charset="0"/>
              </a:rPr>
              <a:t>≠</a:t>
            </a:r>
          </a:p>
        </p:txBody>
      </p:sp>
      <p:sp>
        <p:nvSpPr>
          <p:cNvPr id="6" name="TextBox 5">
            <a:extLst>
              <a:ext uri="{FF2B5EF4-FFF2-40B4-BE49-F238E27FC236}">
                <a16:creationId xmlns:a16="http://schemas.microsoft.com/office/drawing/2014/main" id="{E8248DFD-9FC8-84D7-7C3F-7B00863EB8BF}"/>
              </a:ext>
            </a:extLst>
          </p:cNvPr>
          <p:cNvSpPr txBox="1"/>
          <p:nvPr/>
        </p:nvSpPr>
        <p:spPr>
          <a:xfrm>
            <a:off x="4521200" y="1574800"/>
            <a:ext cx="3302000" cy="276999"/>
          </a:xfrm>
          <a:prstGeom prst="rect">
            <a:avLst/>
          </a:prstGeom>
          <a:noFill/>
        </p:spPr>
        <p:txBody>
          <a:bodyPr vert="horz" wrap="square" lIns="0" tIns="0" rIns="0" bIns="0" rtlCol="0" anchor="t">
            <a:noAutofit/>
          </a:bodyPr>
          <a:lstStyle/>
          <a:p>
            <a:r>
              <a:rPr lang="en-US" sz="2600" b="1">
                <a:solidFill>
                  <a:srgbClr val="0B1020"/>
                </a:solidFill>
                <a:latin typeface="Aptos" panose="020B0004020202020204" pitchFamily="34" charset="0"/>
              </a:rPr>
              <a:t>Parallel runtime</a:t>
            </a:r>
          </a:p>
        </p:txBody>
      </p:sp>
      <p:cxnSp>
        <p:nvCxnSpPr>
          <p:cNvPr id="7" name="Straight Connector 6">
            <a:extLst>
              <a:ext uri="{FF2B5EF4-FFF2-40B4-BE49-F238E27FC236}">
                <a16:creationId xmlns:a16="http://schemas.microsoft.com/office/drawing/2014/main" id="{D1E4B5F4-AC2A-2DD4-7507-8D6727E399A5}"/>
              </a:ext>
            </a:extLst>
          </p:cNvPr>
          <p:cNvCxnSpPr/>
          <p:nvPr/>
        </p:nvCxnSpPr>
        <p:spPr>
          <a:xfrm>
            <a:off x="6096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44D47AC-C91C-56AF-A965-A91CC4DF0411}"/>
              </a:ext>
            </a:extLst>
          </p:cNvPr>
          <p:cNvSpPr txBox="1"/>
          <p:nvPr/>
        </p:nvSpPr>
        <p:spPr>
          <a:xfrm>
            <a:off x="6096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01</a:t>
            </a:r>
          </a:p>
        </p:txBody>
      </p:sp>
      <p:sp>
        <p:nvSpPr>
          <p:cNvPr id="9" name="TextBox 8">
            <a:extLst>
              <a:ext uri="{FF2B5EF4-FFF2-40B4-BE49-F238E27FC236}">
                <a16:creationId xmlns:a16="http://schemas.microsoft.com/office/drawing/2014/main" id="{AD1DF4B4-BCA3-039F-D8ED-8D16FBF1CEB9}"/>
              </a:ext>
            </a:extLst>
          </p:cNvPr>
          <p:cNvSpPr txBox="1"/>
          <p:nvPr/>
        </p:nvSpPr>
        <p:spPr>
          <a:xfrm>
            <a:off x="6096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Create &amp; track</a:t>
            </a:r>
          </a:p>
        </p:txBody>
      </p:sp>
      <p:sp>
        <p:nvSpPr>
          <p:cNvPr id="10" name="TextBox 9">
            <a:extLst>
              <a:ext uri="{FF2B5EF4-FFF2-40B4-BE49-F238E27FC236}">
                <a16:creationId xmlns:a16="http://schemas.microsoft.com/office/drawing/2014/main" id="{D0E432B5-2153-A133-2E07-CFC1CCDD269F}"/>
              </a:ext>
            </a:extLst>
          </p:cNvPr>
          <p:cNvSpPr txBox="1"/>
          <p:nvPr/>
        </p:nvSpPr>
        <p:spPr>
          <a:xfrm>
            <a:off x="6096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worktree, branch, task ownership</a:t>
            </a:r>
          </a:p>
        </p:txBody>
      </p:sp>
      <p:cxnSp>
        <p:nvCxnSpPr>
          <p:cNvPr id="11" name="Straight Connector 10">
            <a:extLst>
              <a:ext uri="{FF2B5EF4-FFF2-40B4-BE49-F238E27FC236}">
                <a16:creationId xmlns:a16="http://schemas.microsoft.com/office/drawing/2014/main" id="{0B4D7266-F45F-B749-FB2E-677CC7398486}"/>
              </a:ext>
            </a:extLst>
          </p:cNvPr>
          <p:cNvCxnSpPr/>
          <p:nvPr/>
        </p:nvCxnSpPr>
        <p:spPr>
          <a:xfrm>
            <a:off x="28194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149D569-D890-B3D7-F7E2-4DF98EC1FBC7}"/>
              </a:ext>
            </a:extLst>
          </p:cNvPr>
          <p:cNvSpPr txBox="1"/>
          <p:nvPr/>
        </p:nvSpPr>
        <p:spPr>
          <a:xfrm>
            <a:off x="28194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02</a:t>
            </a:r>
          </a:p>
        </p:txBody>
      </p:sp>
      <p:sp>
        <p:nvSpPr>
          <p:cNvPr id="13" name="TextBox 12">
            <a:extLst>
              <a:ext uri="{FF2B5EF4-FFF2-40B4-BE49-F238E27FC236}">
                <a16:creationId xmlns:a16="http://schemas.microsoft.com/office/drawing/2014/main" id="{BBB0094F-2A6B-213C-8724-29682069318C}"/>
              </a:ext>
            </a:extLst>
          </p:cNvPr>
          <p:cNvSpPr txBox="1"/>
          <p:nvPr/>
        </p:nvSpPr>
        <p:spPr>
          <a:xfrm>
            <a:off x="28194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Bootstrap</a:t>
            </a:r>
          </a:p>
        </p:txBody>
      </p:sp>
      <p:sp>
        <p:nvSpPr>
          <p:cNvPr id="14" name="TextBox 13">
            <a:extLst>
              <a:ext uri="{FF2B5EF4-FFF2-40B4-BE49-F238E27FC236}">
                <a16:creationId xmlns:a16="http://schemas.microsoft.com/office/drawing/2014/main" id="{2BD2F5B9-EE0F-D1B0-6356-09BB38CC8209}"/>
              </a:ext>
            </a:extLst>
          </p:cNvPr>
          <p:cNvSpPr txBox="1"/>
          <p:nvPr/>
        </p:nvSpPr>
        <p:spPr>
          <a:xfrm>
            <a:off x="28194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Composer, npm, env files</a:t>
            </a:r>
          </a:p>
        </p:txBody>
      </p:sp>
      <p:cxnSp>
        <p:nvCxnSpPr>
          <p:cNvPr id="15" name="Straight Connector 14">
            <a:extLst>
              <a:ext uri="{FF2B5EF4-FFF2-40B4-BE49-F238E27FC236}">
                <a16:creationId xmlns:a16="http://schemas.microsoft.com/office/drawing/2014/main" id="{3889CD8E-2C18-E0DF-7CB0-7CE41FF95DFD}"/>
              </a:ext>
            </a:extLst>
          </p:cNvPr>
          <p:cNvCxnSpPr/>
          <p:nvPr/>
        </p:nvCxnSpPr>
        <p:spPr>
          <a:xfrm>
            <a:off x="50292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504FC9E-6DDE-C4A6-5AFC-C778902ACD7D}"/>
              </a:ext>
            </a:extLst>
          </p:cNvPr>
          <p:cNvSpPr txBox="1"/>
          <p:nvPr/>
        </p:nvSpPr>
        <p:spPr>
          <a:xfrm>
            <a:off x="50292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03</a:t>
            </a:r>
          </a:p>
        </p:txBody>
      </p:sp>
      <p:sp>
        <p:nvSpPr>
          <p:cNvPr id="17" name="TextBox 16">
            <a:extLst>
              <a:ext uri="{FF2B5EF4-FFF2-40B4-BE49-F238E27FC236}">
                <a16:creationId xmlns:a16="http://schemas.microsoft.com/office/drawing/2014/main" id="{A1A99564-A691-1FA1-3748-5DA1859091A5}"/>
              </a:ext>
            </a:extLst>
          </p:cNvPr>
          <p:cNvSpPr txBox="1"/>
          <p:nvPr/>
        </p:nvSpPr>
        <p:spPr>
          <a:xfrm>
            <a:off x="50292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Dependencies</a:t>
            </a:r>
          </a:p>
        </p:txBody>
      </p:sp>
      <p:sp>
        <p:nvSpPr>
          <p:cNvPr id="18" name="TextBox 17">
            <a:extLst>
              <a:ext uri="{FF2B5EF4-FFF2-40B4-BE49-F238E27FC236}">
                <a16:creationId xmlns:a16="http://schemas.microsoft.com/office/drawing/2014/main" id="{8F15EE42-2392-1E5F-8010-37B042962964}"/>
              </a:ext>
            </a:extLst>
          </p:cNvPr>
          <p:cNvSpPr txBox="1"/>
          <p:nvPr/>
        </p:nvSpPr>
        <p:spPr>
          <a:xfrm>
            <a:off x="50292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vendor and node_modules per tree</a:t>
            </a:r>
          </a:p>
        </p:txBody>
      </p:sp>
      <p:cxnSp>
        <p:nvCxnSpPr>
          <p:cNvPr id="19" name="Straight Connector 18">
            <a:extLst>
              <a:ext uri="{FF2B5EF4-FFF2-40B4-BE49-F238E27FC236}">
                <a16:creationId xmlns:a16="http://schemas.microsoft.com/office/drawing/2014/main" id="{699E9374-6FEF-8E7F-C9C5-B6AA0D2CF921}"/>
              </a:ext>
            </a:extLst>
          </p:cNvPr>
          <p:cNvCxnSpPr/>
          <p:nvPr/>
        </p:nvCxnSpPr>
        <p:spPr>
          <a:xfrm>
            <a:off x="72390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6298F86-9E3F-C8C4-FA2B-6658589E602A}"/>
              </a:ext>
            </a:extLst>
          </p:cNvPr>
          <p:cNvSpPr txBox="1"/>
          <p:nvPr/>
        </p:nvSpPr>
        <p:spPr>
          <a:xfrm>
            <a:off x="72390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04</a:t>
            </a:r>
          </a:p>
        </p:txBody>
      </p:sp>
      <p:sp>
        <p:nvSpPr>
          <p:cNvPr id="21" name="TextBox 20">
            <a:extLst>
              <a:ext uri="{FF2B5EF4-FFF2-40B4-BE49-F238E27FC236}">
                <a16:creationId xmlns:a16="http://schemas.microsoft.com/office/drawing/2014/main" id="{898F2790-6F2B-0372-3343-48E076EA9CFA}"/>
              </a:ext>
            </a:extLst>
          </p:cNvPr>
          <p:cNvSpPr txBox="1"/>
          <p:nvPr/>
        </p:nvSpPr>
        <p:spPr>
          <a:xfrm>
            <a:off x="72390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Test safely</a:t>
            </a:r>
          </a:p>
        </p:txBody>
      </p:sp>
      <p:sp>
        <p:nvSpPr>
          <p:cNvPr id="22" name="TextBox 21">
            <a:extLst>
              <a:ext uri="{FF2B5EF4-FFF2-40B4-BE49-F238E27FC236}">
                <a16:creationId xmlns:a16="http://schemas.microsoft.com/office/drawing/2014/main" id="{CE143016-5697-05CC-24EC-64F73F34A90C}"/>
              </a:ext>
            </a:extLst>
          </p:cNvPr>
          <p:cNvSpPr txBox="1"/>
          <p:nvPr/>
        </p:nvSpPr>
        <p:spPr>
          <a:xfrm>
            <a:off x="72390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a database namespace per worker</a:t>
            </a:r>
          </a:p>
        </p:txBody>
      </p:sp>
      <p:cxnSp>
        <p:nvCxnSpPr>
          <p:cNvPr id="23" name="Straight Connector 22">
            <a:extLst>
              <a:ext uri="{FF2B5EF4-FFF2-40B4-BE49-F238E27FC236}">
                <a16:creationId xmlns:a16="http://schemas.microsoft.com/office/drawing/2014/main" id="{286B52BA-9FC7-99DD-3455-6D1AB93BC3B4}"/>
              </a:ext>
            </a:extLst>
          </p:cNvPr>
          <p:cNvCxnSpPr/>
          <p:nvPr/>
        </p:nvCxnSpPr>
        <p:spPr>
          <a:xfrm>
            <a:off x="94488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0E77E98-BB18-61D4-10C4-46EB5370640A}"/>
              </a:ext>
            </a:extLst>
          </p:cNvPr>
          <p:cNvSpPr txBox="1"/>
          <p:nvPr/>
        </p:nvSpPr>
        <p:spPr>
          <a:xfrm>
            <a:off x="94488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05</a:t>
            </a:r>
          </a:p>
        </p:txBody>
      </p:sp>
      <p:sp>
        <p:nvSpPr>
          <p:cNvPr id="25" name="TextBox 24">
            <a:extLst>
              <a:ext uri="{FF2B5EF4-FFF2-40B4-BE49-F238E27FC236}">
                <a16:creationId xmlns:a16="http://schemas.microsoft.com/office/drawing/2014/main" id="{58E087F6-6A7A-9843-CDF8-5697809BDC42}"/>
              </a:ext>
            </a:extLst>
          </p:cNvPr>
          <p:cNvSpPr txBox="1"/>
          <p:nvPr/>
        </p:nvSpPr>
        <p:spPr>
          <a:xfrm>
            <a:off x="94488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Clean everything</a:t>
            </a:r>
          </a:p>
        </p:txBody>
      </p:sp>
      <p:sp>
        <p:nvSpPr>
          <p:cNvPr id="26" name="TextBox 25">
            <a:extLst>
              <a:ext uri="{FF2B5EF4-FFF2-40B4-BE49-F238E27FC236}">
                <a16:creationId xmlns:a16="http://schemas.microsoft.com/office/drawing/2014/main" id="{58B41A7B-2738-5FC6-822D-3B13F76B8B42}"/>
              </a:ext>
            </a:extLst>
          </p:cNvPr>
          <p:cNvSpPr txBox="1"/>
          <p:nvPr/>
        </p:nvSpPr>
        <p:spPr>
          <a:xfrm>
            <a:off x="9448800" y="3924300"/>
            <a:ext cx="1955800" cy="276999"/>
          </a:xfrm>
          <a:prstGeom prst="rect">
            <a:avLst/>
          </a:prstGeom>
          <a:noFill/>
        </p:spPr>
        <p:txBody>
          <a:bodyPr vert="horz" wrap="square" lIns="0" tIns="0" rIns="0" bIns="0" rtlCol="0" anchor="t">
            <a:noAutofit/>
          </a:bodyPr>
          <a:lstStyle/>
          <a:p>
            <a:r>
              <a:rPr lang="fr-FR" sz="1500">
                <a:solidFill>
                  <a:srgbClr val="596579"/>
                </a:solidFill>
                <a:latin typeface="Aptos" panose="020B0004020202020204" pitchFamily="34" charset="0"/>
              </a:rPr>
              <a:t>processes, ports, DB, branch, files</a:t>
            </a:r>
            <a:endParaRPr lang="en-US" sz="1500">
              <a:solidFill>
                <a:srgbClr val="596579"/>
              </a:solidFill>
              <a:latin typeface="Aptos" panose="020B0004020202020204" pitchFamily="34" charset="0"/>
            </a:endParaRPr>
          </a:p>
        </p:txBody>
      </p:sp>
      <p:sp>
        <p:nvSpPr>
          <p:cNvPr id="27" name="Rectangle: Rounded Corners 26">
            <a:extLst>
              <a:ext uri="{FF2B5EF4-FFF2-40B4-BE49-F238E27FC236}">
                <a16:creationId xmlns:a16="http://schemas.microsoft.com/office/drawing/2014/main" id="{F76DBB31-1DB9-59BA-6FBC-362E25B4E296}"/>
              </a:ext>
            </a:extLst>
          </p:cNvPr>
          <p:cNvSpPr/>
          <p:nvPr/>
        </p:nvSpPr>
        <p:spPr>
          <a:xfrm>
            <a:off x="609600" y="5257800"/>
            <a:ext cx="10972800" cy="9398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80A68D7-9379-9E93-B08D-7D6C32109D41}"/>
              </a:ext>
            </a:extLst>
          </p:cNvPr>
          <p:cNvSpPr txBox="1"/>
          <p:nvPr/>
        </p:nvSpPr>
        <p:spPr>
          <a:xfrm>
            <a:off x="914400" y="5473700"/>
            <a:ext cx="10363200" cy="276999"/>
          </a:xfrm>
          <a:prstGeom prst="rect">
            <a:avLst/>
          </a:prstGeom>
          <a:noFill/>
        </p:spPr>
        <p:txBody>
          <a:bodyPr vert="horz" wrap="square" lIns="0" tIns="0" rIns="0" bIns="0" rtlCol="0" anchor="ctr">
            <a:noAutofit/>
          </a:bodyPr>
          <a:lstStyle/>
          <a:p>
            <a:pPr algn="ctr"/>
            <a:r>
              <a:rPr lang="en-US" sz="2200" b="1">
                <a:solidFill>
                  <a:srgbClr val="FFFFFF"/>
                </a:solidFill>
                <a:latin typeface="Aptos" panose="020B0004020202020204" pitchFamily="34" charset="0"/>
              </a:rPr>
              <a:t>“Use worktrees” is correct advice — but it is not an operating model.</a:t>
            </a:r>
          </a:p>
        </p:txBody>
      </p:sp>
    </p:spTree>
    <p:extLst>
      <p:ext uri="{BB962C8B-B14F-4D97-AF65-F5344CB8AC3E}">
        <p14:creationId xmlns:p14="http://schemas.microsoft.com/office/powerpoint/2010/main" val="409054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9BBF0C-7A8E-A242-122A-FB6CD89D02EE}"/>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The real unit of parallelism is an environment.</a:t>
            </a:r>
          </a:p>
        </p:txBody>
      </p:sp>
      <p:sp>
        <p:nvSpPr>
          <p:cNvPr id="3" name="TextBox 2">
            <a:extLst>
              <a:ext uri="{FF2B5EF4-FFF2-40B4-BE49-F238E27FC236}">
                <a16:creationId xmlns:a16="http://schemas.microsoft.com/office/drawing/2014/main" id="{C87552DB-C22A-57E5-7B6F-A94BF11196BB}"/>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3</a:t>
            </a:r>
          </a:p>
        </p:txBody>
      </p:sp>
      <p:sp>
        <p:nvSpPr>
          <p:cNvPr id="4" name="TextBox 3">
            <a:extLst>
              <a:ext uri="{FF2B5EF4-FFF2-40B4-BE49-F238E27FC236}">
                <a16:creationId xmlns:a16="http://schemas.microsoft.com/office/drawing/2014/main" id="{100BF2CD-8B1A-A9BF-E783-0B8EB6545828}"/>
              </a:ext>
            </a:extLst>
          </p:cNvPr>
          <p:cNvSpPr txBox="1"/>
          <p:nvPr/>
        </p:nvSpPr>
        <p:spPr>
          <a:xfrm>
            <a:off x="558800" y="1193800"/>
            <a:ext cx="9144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Each task gets a complete, disposable execution boundary.</a:t>
            </a:r>
          </a:p>
        </p:txBody>
      </p:sp>
      <p:sp>
        <p:nvSpPr>
          <p:cNvPr id="5" name="Rectangle: Rounded Corners 4">
            <a:extLst>
              <a:ext uri="{FF2B5EF4-FFF2-40B4-BE49-F238E27FC236}">
                <a16:creationId xmlns:a16="http://schemas.microsoft.com/office/drawing/2014/main" id="{F6C26466-188C-CE5F-3123-49F391B3C748}"/>
              </a:ext>
            </a:extLst>
          </p:cNvPr>
          <p:cNvSpPr/>
          <p:nvPr/>
        </p:nvSpPr>
        <p:spPr>
          <a:xfrm>
            <a:off x="609600" y="2006600"/>
            <a:ext cx="3302000" cy="28702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3F19DF0-7A15-D849-2860-E99F022336C3}"/>
              </a:ext>
            </a:extLst>
          </p:cNvPr>
          <p:cNvSpPr/>
          <p:nvPr/>
        </p:nvSpPr>
        <p:spPr>
          <a:xfrm>
            <a:off x="609600" y="2006600"/>
            <a:ext cx="3302000" cy="533400"/>
          </a:xfrm>
          <a:prstGeom prst="roundRect">
            <a:avLst/>
          </a:prstGeom>
          <a:solidFill>
            <a:srgbClr val="D8E9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EE022D-7CDA-AC88-4AF2-359EF6733931}"/>
              </a:ext>
            </a:extLst>
          </p:cNvPr>
          <p:cNvSpPr txBox="1"/>
          <p:nvPr/>
        </p:nvSpPr>
        <p:spPr>
          <a:xfrm>
            <a:off x="787400" y="2133600"/>
            <a:ext cx="2946400" cy="276999"/>
          </a:xfrm>
          <a:prstGeom prst="rect">
            <a:avLst/>
          </a:prstGeom>
          <a:noFill/>
        </p:spPr>
        <p:txBody>
          <a:bodyPr vert="horz" wrap="square" lIns="0" tIns="0" rIns="0" bIns="0" rtlCol="0" anchor="t">
            <a:noAutofit/>
          </a:bodyPr>
          <a:lstStyle/>
          <a:p>
            <a:r>
              <a:rPr lang="en-US" sz="1900" b="1">
                <a:solidFill>
                  <a:srgbClr val="0B1020"/>
                </a:solidFill>
                <a:latin typeface="Aptos" panose="020B0004020202020204" pitchFamily="34" charset="0"/>
              </a:rPr>
              <a:t>Task A</a:t>
            </a:r>
          </a:p>
        </p:txBody>
      </p:sp>
      <p:sp>
        <p:nvSpPr>
          <p:cNvPr id="8" name="Rectangle: Rounded Corners 7">
            <a:extLst>
              <a:ext uri="{FF2B5EF4-FFF2-40B4-BE49-F238E27FC236}">
                <a16:creationId xmlns:a16="http://schemas.microsoft.com/office/drawing/2014/main" id="{EA9DEA73-1FFC-676C-3563-2B725D55271C}"/>
              </a:ext>
            </a:extLst>
          </p:cNvPr>
          <p:cNvSpPr/>
          <p:nvPr/>
        </p:nvSpPr>
        <p:spPr>
          <a:xfrm>
            <a:off x="2921000" y="2120900"/>
            <a:ext cx="812800" cy="3048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7B2E87C-4EF5-C23C-6534-9A2E7076E7CD}"/>
              </a:ext>
            </a:extLst>
          </p:cNvPr>
          <p:cNvSpPr txBox="1"/>
          <p:nvPr/>
        </p:nvSpPr>
        <p:spPr>
          <a:xfrm>
            <a:off x="2921000" y="2133600"/>
            <a:ext cx="8128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CLAUDE</a:t>
            </a:r>
          </a:p>
        </p:txBody>
      </p:sp>
      <p:sp>
        <p:nvSpPr>
          <p:cNvPr id="10" name="Rectangle: Rounded Corners 9">
            <a:extLst>
              <a:ext uri="{FF2B5EF4-FFF2-40B4-BE49-F238E27FC236}">
                <a16:creationId xmlns:a16="http://schemas.microsoft.com/office/drawing/2014/main" id="{3A509181-B5A7-20F5-F753-24552C0CA54F}"/>
              </a:ext>
            </a:extLst>
          </p:cNvPr>
          <p:cNvSpPr/>
          <p:nvPr/>
        </p:nvSpPr>
        <p:spPr>
          <a:xfrm>
            <a:off x="800100" y="27432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2A40C1C-1AB7-3902-00FC-CF6ADF289EAE}"/>
              </a:ext>
            </a:extLst>
          </p:cNvPr>
          <p:cNvSpPr txBox="1"/>
          <p:nvPr/>
        </p:nvSpPr>
        <p:spPr>
          <a:xfrm>
            <a:off x="800100" y="27940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WT</a:t>
            </a:r>
          </a:p>
        </p:txBody>
      </p:sp>
      <p:sp>
        <p:nvSpPr>
          <p:cNvPr id="12" name="TextBox 11">
            <a:extLst>
              <a:ext uri="{FF2B5EF4-FFF2-40B4-BE49-F238E27FC236}">
                <a16:creationId xmlns:a16="http://schemas.microsoft.com/office/drawing/2014/main" id="{76DD1B4C-60F4-BE3F-3F1F-D7FAA54D2DFD}"/>
              </a:ext>
            </a:extLst>
          </p:cNvPr>
          <p:cNvSpPr txBox="1"/>
          <p:nvPr/>
        </p:nvSpPr>
        <p:spPr>
          <a:xfrm>
            <a:off x="1384300" y="27686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Git worktree + branch</a:t>
            </a:r>
          </a:p>
        </p:txBody>
      </p:sp>
      <p:sp>
        <p:nvSpPr>
          <p:cNvPr id="13" name="Rectangle: Rounded Corners 12">
            <a:extLst>
              <a:ext uri="{FF2B5EF4-FFF2-40B4-BE49-F238E27FC236}">
                <a16:creationId xmlns:a16="http://schemas.microsoft.com/office/drawing/2014/main" id="{FA253E1B-1EE2-17DE-A61B-2BF2CED42D07}"/>
              </a:ext>
            </a:extLst>
          </p:cNvPr>
          <p:cNvSpPr/>
          <p:nvPr/>
        </p:nvSpPr>
        <p:spPr>
          <a:xfrm>
            <a:off x="800100" y="32004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136290B-0BEC-1ED3-6862-C1DC3CA32413}"/>
              </a:ext>
            </a:extLst>
          </p:cNvPr>
          <p:cNvSpPr txBox="1"/>
          <p:nvPr/>
        </p:nvSpPr>
        <p:spPr>
          <a:xfrm>
            <a:off x="800100" y="32512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DB</a:t>
            </a:r>
          </a:p>
        </p:txBody>
      </p:sp>
      <p:sp>
        <p:nvSpPr>
          <p:cNvPr id="15" name="TextBox 14">
            <a:extLst>
              <a:ext uri="{FF2B5EF4-FFF2-40B4-BE49-F238E27FC236}">
                <a16:creationId xmlns:a16="http://schemas.microsoft.com/office/drawing/2014/main" id="{D7317752-4A35-3757-6A8C-4BA7B063C29E}"/>
              </a:ext>
            </a:extLst>
          </p:cNvPr>
          <p:cNvSpPr txBox="1"/>
          <p:nvPr/>
        </p:nvSpPr>
        <p:spPr>
          <a:xfrm>
            <a:off x="1384300" y="32258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Isolated test database</a:t>
            </a:r>
          </a:p>
        </p:txBody>
      </p:sp>
      <p:sp>
        <p:nvSpPr>
          <p:cNvPr id="16" name="Rectangle: Rounded Corners 15">
            <a:extLst>
              <a:ext uri="{FF2B5EF4-FFF2-40B4-BE49-F238E27FC236}">
                <a16:creationId xmlns:a16="http://schemas.microsoft.com/office/drawing/2014/main" id="{1EE476F5-ECF0-68AA-CE76-59F26B48241B}"/>
              </a:ext>
            </a:extLst>
          </p:cNvPr>
          <p:cNvSpPr/>
          <p:nvPr/>
        </p:nvSpPr>
        <p:spPr>
          <a:xfrm>
            <a:off x="800100" y="36576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1A03139-ED46-B497-C1F8-62EC541FFFF0}"/>
              </a:ext>
            </a:extLst>
          </p:cNvPr>
          <p:cNvSpPr txBox="1"/>
          <p:nvPr/>
        </p:nvSpPr>
        <p:spPr>
          <a:xfrm>
            <a:off x="800100" y="37084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RUN</a:t>
            </a:r>
          </a:p>
        </p:txBody>
      </p:sp>
      <p:sp>
        <p:nvSpPr>
          <p:cNvPr id="18" name="TextBox 17">
            <a:extLst>
              <a:ext uri="{FF2B5EF4-FFF2-40B4-BE49-F238E27FC236}">
                <a16:creationId xmlns:a16="http://schemas.microsoft.com/office/drawing/2014/main" id="{599702FB-6D01-E08B-1EC3-F50B16EFD5EF}"/>
              </a:ext>
            </a:extLst>
          </p:cNvPr>
          <p:cNvSpPr txBox="1"/>
          <p:nvPr/>
        </p:nvSpPr>
        <p:spPr>
          <a:xfrm>
            <a:off x="1384300" y="36830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Tests + task commit</a:t>
            </a:r>
          </a:p>
        </p:txBody>
      </p:sp>
      <p:sp>
        <p:nvSpPr>
          <p:cNvPr id="19" name="Rectangle: Rounded Corners 18">
            <a:extLst>
              <a:ext uri="{FF2B5EF4-FFF2-40B4-BE49-F238E27FC236}">
                <a16:creationId xmlns:a16="http://schemas.microsoft.com/office/drawing/2014/main" id="{5D6894CC-3566-51C6-2A81-6A5FE9783825}"/>
              </a:ext>
            </a:extLst>
          </p:cNvPr>
          <p:cNvSpPr/>
          <p:nvPr/>
        </p:nvSpPr>
        <p:spPr>
          <a:xfrm>
            <a:off x="800100" y="41148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4BDE667-7EE5-8DA1-CE53-1DD3ECF7D002}"/>
              </a:ext>
            </a:extLst>
          </p:cNvPr>
          <p:cNvSpPr txBox="1"/>
          <p:nvPr/>
        </p:nvSpPr>
        <p:spPr>
          <a:xfrm>
            <a:off x="800100" y="41656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PORT</a:t>
            </a:r>
          </a:p>
        </p:txBody>
      </p:sp>
      <p:sp>
        <p:nvSpPr>
          <p:cNvPr id="21" name="TextBox 20">
            <a:extLst>
              <a:ext uri="{FF2B5EF4-FFF2-40B4-BE49-F238E27FC236}">
                <a16:creationId xmlns:a16="http://schemas.microsoft.com/office/drawing/2014/main" id="{5E42B4CC-8512-6F33-9E83-AC8087AA1BE5}"/>
              </a:ext>
            </a:extLst>
          </p:cNvPr>
          <p:cNvSpPr txBox="1"/>
          <p:nvPr/>
        </p:nvSpPr>
        <p:spPr>
          <a:xfrm>
            <a:off x="1384300" y="41402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Preview on demand</a:t>
            </a:r>
          </a:p>
        </p:txBody>
      </p:sp>
      <p:sp>
        <p:nvSpPr>
          <p:cNvPr id="22" name="Rectangle: Rounded Corners 21">
            <a:extLst>
              <a:ext uri="{FF2B5EF4-FFF2-40B4-BE49-F238E27FC236}">
                <a16:creationId xmlns:a16="http://schemas.microsoft.com/office/drawing/2014/main" id="{8C8FB93C-D45B-B308-CBD1-D69EBF865020}"/>
              </a:ext>
            </a:extLst>
          </p:cNvPr>
          <p:cNvSpPr/>
          <p:nvPr/>
        </p:nvSpPr>
        <p:spPr>
          <a:xfrm>
            <a:off x="4445000" y="2006600"/>
            <a:ext cx="3302000" cy="28702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5CFA61FB-5135-0443-919E-A9F3783E1C87}"/>
              </a:ext>
            </a:extLst>
          </p:cNvPr>
          <p:cNvSpPr/>
          <p:nvPr/>
        </p:nvSpPr>
        <p:spPr>
          <a:xfrm>
            <a:off x="4445000" y="2006600"/>
            <a:ext cx="3302000" cy="533400"/>
          </a:xfrm>
          <a:prstGeom prst="roundRect">
            <a:avLst/>
          </a:prstGeom>
          <a:solidFill>
            <a:srgbClr val="DDF6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79B955D-7A1F-916B-45C1-EF85D7B2FB64}"/>
              </a:ext>
            </a:extLst>
          </p:cNvPr>
          <p:cNvSpPr txBox="1"/>
          <p:nvPr/>
        </p:nvSpPr>
        <p:spPr>
          <a:xfrm>
            <a:off x="4622800" y="2133600"/>
            <a:ext cx="2946400" cy="276999"/>
          </a:xfrm>
          <a:prstGeom prst="rect">
            <a:avLst/>
          </a:prstGeom>
          <a:noFill/>
        </p:spPr>
        <p:txBody>
          <a:bodyPr vert="horz" wrap="square" lIns="0" tIns="0" rIns="0" bIns="0" rtlCol="0" anchor="t">
            <a:noAutofit/>
          </a:bodyPr>
          <a:lstStyle/>
          <a:p>
            <a:r>
              <a:rPr lang="en-US" sz="1900" b="1">
                <a:solidFill>
                  <a:srgbClr val="0B1020"/>
                </a:solidFill>
                <a:latin typeface="Aptos" panose="020B0004020202020204" pitchFamily="34" charset="0"/>
              </a:rPr>
              <a:t>Task B</a:t>
            </a:r>
          </a:p>
        </p:txBody>
      </p:sp>
      <p:sp>
        <p:nvSpPr>
          <p:cNvPr id="25" name="Rectangle: Rounded Corners 24">
            <a:extLst>
              <a:ext uri="{FF2B5EF4-FFF2-40B4-BE49-F238E27FC236}">
                <a16:creationId xmlns:a16="http://schemas.microsoft.com/office/drawing/2014/main" id="{CC3083B6-6D9B-5FD2-2E64-97706D37FA08}"/>
              </a:ext>
            </a:extLst>
          </p:cNvPr>
          <p:cNvSpPr/>
          <p:nvPr/>
        </p:nvSpPr>
        <p:spPr>
          <a:xfrm>
            <a:off x="6756400" y="2120900"/>
            <a:ext cx="812800" cy="3048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26F6A78-835F-F8FF-933C-046F04F17CD1}"/>
              </a:ext>
            </a:extLst>
          </p:cNvPr>
          <p:cNvSpPr txBox="1"/>
          <p:nvPr/>
        </p:nvSpPr>
        <p:spPr>
          <a:xfrm>
            <a:off x="6756400" y="2133600"/>
            <a:ext cx="8128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CODEX</a:t>
            </a:r>
          </a:p>
        </p:txBody>
      </p:sp>
      <p:sp>
        <p:nvSpPr>
          <p:cNvPr id="27" name="Rectangle: Rounded Corners 26">
            <a:extLst>
              <a:ext uri="{FF2B5EF4-FFF2-40B4-BE49-F238E27FC236}">
                <a16:creationId xmlns:a16="http://schemas.microsoft.com/office/drawing/2014/main" id="{EB45A00D-FF18-ABAB-F444-83F3F6251435}"/>
              </a:ext>
            </a:extLst>
          </p:cNvPr>
          <p:cNvSpPr/>
          <p:nvPr/>
        </p:nvSpPr>
        <p:spPr>
          <a:xfrm>
            <a:off x="4635500" y="27432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2F832B3-6611-7042-605F-A34A1FE97B5A}"/>
              </a:ext>
            </a:extLst>
          </p:cNvPr>
          <p:cNvSpPr txBox="1"/>
          <p:nvPr/>
        </p:nvSpPr>
        <p:spPr>
          <a:xfrm>
            <a:off x="4635500" y="27940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WT</a:t>
            </a:r>
          </a:p>
        </p:txBody>
      </p:sp>
      <p:sp>
        <p:nvSpPr>
          <p:cNvPr id="29" name="TextBox 28">
            <a:extLst>
              <a:ext uri="{FF2B5EF4-FFF2-40B4-BE49-F238E27FC236}">
                <a16:creationId xmlns:a16="http://schemas.microsoft.com/office/drawing/2014/main" id="{B60DFF8D-185F-CD57-A5A4-C273525B7031}"/>
              </a:ext>
            </a:extLst>
          </p:cNvPr>
          <p:cNvSpPr txBox="1"/>
          <p:nvPr/>
        </p:nvSpPr>
        <p:spPr>
          <a:xfrm>
            <a:off x="5219700" y="27686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Git worktree + branch</a:t>
            </a:r>
          </a:p>
        </p:txBody>
      </p:sp>
      <p:sp>
        <p:nvSpPr>
          <p:cNvPr id="30" name="Rectangle: Rounded Corners 29">
            <a:extLst>
              <a:ext uri="{FF2B5EF4-FFF2-40B4-BE49-F238E27FC236}">
                <a16:creationId xmlns:a16="http://schemas.microsoft.com/office/drawing/2014/main" id="{7AD45368-FF23-CD34-ADF5-4750C5D98AFD}"/>
              </a:ext>
            </a:extLst>
          </p:cNvPr>
          <p:cNvSpPr/>
          <p:nvPr/>
        </p:nvSpPr>
        <p:spPr>
          <a:xfrm>
            <a:off x="4635500" y="32004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213E677-F55C-1B71-58C7-CA270A4AAF40}"/>
              </a:ext>
            </a:extLst>
          </p:cNvPr>
          <p:cNvSpPr txBox="1"/>
          <p:nvPr/>
        </p:nvSpPr>
        <p:spPr>
          <a:xfrm>
            <a:off x="4635500" y="32512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DB</a:t>
            </a:r>
          </a:p>
        </p:txBody>
      </p:sp>
      <p:sp>
        <p:nvSpPr>
          <p:cNvPr id="32" name="TextBox 31">
            <a:extLst>
              <a:ext uri="{FF2B5EF4-FFF2-40B4-BE49-F238E27FC236}">
                <a16:creationId xmlns:a16="http://schemas.microsoft.com/office/drawing/2014/main" id="{D6D92D6D-2716-986A-DF48-AE826D0EF5F0}"/>
              </a:ext>
            </a:extLst>
          </p:cNvPr>
          <p:cNvSpPr txBox="1"/>
          <p:nvPr/>
        </p:nvSpPr>
        <p:spPr>
          <a:xfrm>
            <a:off x="5219700" y="32258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Isolated test database</a:t>
            </a:r>
          </a:p>
        </p:txBody>
      </p:sp>
      <p:sp>
        <p:nvSpPr>
          <p:cNvPr id="33" name="Rectangle: Rounded Corners 32">
            <a:extLst>
              <a:ext uri="{FF2B5EF4-FFF2-40B4-BE49-F238E27FC236}">
                <a16:creationId xmlns:a16="http://schemas.microsoft.com/office/drawing/2014/main" id="{D015BAE6-A543-E1C1-6F24-474C889DAE40}"/>
              </a:ext>
            </a:extLst>
          </p:cNvPr>
          <p:cNvSpPr/>
          <p:nvPr/>
        </p:nvSpPr>
        <p:spPr>
          <a:xfrm>
            <a:off x="4635500" y="36576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118C075B-060F-F2AD-E5C7-7C7CE25CF1DC}"/>
              </a:ext>
            </a:extLst>
          </p:cNvPr>
          <p:cNvSpPr txBox="1"/>
          <p:nvPr/>
        </p:nvSpPr>
        <p:spPr>
          <a:xfrm>
            <a:off x="4635500" y="37084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RUN</a:t>
            </a:r>
          </a:p>
        </p:txBody>
      </p:sp>
      <p:sp>
        <p:nvSpPr>
          <p:cNvPr id="35" name="TextBox 34">
            <a:extLst>
              <a:ext uri="{FF2B5EF4-FFF2-40B4-BE49-F238E27FC236}">
                <a16:creationId xmlns:a16="http://schemas.microsoft.com/office/drawing/2014/main" id="{BFA91334-86F2-1B08-8655-B5FD1E04EFE7}"/>
              </a:ext>
            </a:extLst>
          </p:cNvPr>
          <p:cNvSpPr txBox="1"/>
          <p:nvPr/>
        </p:nvSpPr>
        <p:spPr>
          <a:xfrm>
            <a:off x="5219700" y="36830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Tests + task commit</a:t>
            </a:r>
          </a:p>
        </p:txBody>
      </p:sp>
      <p:sp>
        <p:nvSpPr>
          <p:cNvPr id="36" name="Rectangle: Rounded Corners 35">
            <a:extLst>
              <a:ext uri="{FF2B5EF4-FFF2-40B4-BE49-F238E27FC236}">
                <a16:creationId xmlns:a16="http://schemas.microsoft.com/office/drawing/2014/main" id="{414BA628-1297-5FD8-5DFC-278891EB21C7}"/>
              </a:ext>
            </a:extLst>
          </p:cNvPr>
          <p:cNvSpPr/>
          <p:nvPr/>
        </p:nvSpPr>
        <p:spPr>
          <a:xfrm>
            <a:off x="4635500" y="41148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D576CAF-6A28-9436-3FC9-83E32DF4A976}"/>
              </a:ext>
            </a:extLst>
          </p:cNvPr>
          <p:cNvSpPr txBox="1"/>
          <p:nvPr/>
        </p:nvSpPr>
        <p:spPr>
          <a:xfrm>
            <a:off x="4635500" y="41656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PORT</a:t>
            </a:r>
          </a:p>
        </p:txBody>
      </p:sp>
      <p:sp>
        <p:nvSpPr>
          <p:cNvPr id="38" name="TextBox 37">
            <a:extLst>
              <a:ext uri="{FF2B5EF4-FFF2-40B4-BE49-F238E27FC236}">
                <a16:creationId xmlns:a16="http://schemas.microsoft.com/office/drawing/2014/main" id="{693962A0-AF7A-FC01-349D-2C5ADD852FD5}"/>
              </a:ext>
            </a:extLst>
          </p:cNvPr>
          <p:cNvSpPr txBox="1"/>
          <p:nvPr/>
        </p:nvSpPr>
        <p:spPr>
          <a:xfrm>
            <a:off x="5219700" y="41402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Preview on demand</a:t>
            </a:r>
          </a:p>
        </p:txBody>
      </p:sp>
      <p:sp>
        <p:nvSpPr>
          <p:cNvPr id="39" name="Rectangle: Rounded Corners 38">
            <a:extLst>
              <a:ext uri="{FF2B5EF4-FFF2-40B4-BE49-F238E27FC236}">
                <a16:creationId xmlns:a16="http://schemas.microsoft.com/office/drawing/2014/main" id="{7AAFE18D-CE46-A4FE-092C-80CFE19A0364}"/>
              </a:ext>
            </a:extLst>
          </p:cNvPr>
          <p:cNvSpPr/>
          <p:nvPr/>
        </p:nvSpPr>
        <p:spPr>
          <a:xfrm>
            <a:off x="8280400" y="2006600"/>
            <a:ext cx="3302000" cy="28702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580BF214-F83C-E1FA-D831-EF4A88CEE524}"/>
              </a:ext>
            </a:extLst>
          </p:cNvPr>
          <p:cNvSpPr/>
          <p:nvPr/>
        </p:nvSpPr>
        <p:spPr>
          <a:xfrm>
            <a:off x="8280400" y="2006600"/>
            <a:ext cx="3302000" cy="533400"/>
          </a:xfrm>
          <a:prstGeom prst="roundRect">
            <a:avLst/>
          </a:prstGeom>
          <a:solidFill>
            <a:srgbClr val="FFF0C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126B5D1-D0FD-0DAE-9112-5F9424B590D4}"/>
              </a:ext>
            </a:extLst>
          </p:cNvPr>
          <p:cNvSpPr txBox="1"/>
          <p:nvPr/>
        </p:nvSpPr>
        <p:spPr>
          <a:xfrm>
            <a:off x="8458200" y="2133600"/>
            <a:ext cx="2946400" cy="276999"/>
          </a:xfrm>
          <a:prstGeom prst="rect">
            <a:avLst/>
          </a:prstGeom>
          <a:noFill/>
        </p:spPr>
        <p:txBody>
          <a:bodyPr vert="horz" wrap="square" lIns="0" tIns="0" rIns="0" bIns="0" rtlCol="0" anchor="t">
            <a:noAutofit/>
          </a:bodyPr>
          <a:lstStyle/>
          <a:p>
            <a:r>
              <a:rPr lang="en-US" sz="1900" b="1">
                <a:solidFill>
                  <a:srgbClr val="0B1020"/>
                </a:solidFill>
                <a:latin typeface="Aptos" panose="020B0004020202020204" pitchFamily="34" charset="0"/>
              </a:rPr>
              <a:t>Task C</a:t>
            </a:r>
          </a:p>
        </p:txBody>
      </p:sp>
      <p:sp>
        <p:nvSpPr>
          <p:cNvPr id="42" name="Rectangle: Rounded Corners 41">
            <a:extLst>
              <a:ext uri="{FF2B5EF4-FFF2-40B4-BE49-F238E27FC236}">
                <a16:creationId xmlns:a16="http://schemas.microsoft.com/office/drawing/2014/main" id="{50922C90-B18C-FD7E-A6E0-1746D89A3498}"/>
              </a:ext>
            </a:extLst>
          </p:cNvPr>
          <p:cNvSpPr/>
          <p:nvPr/>
        </p:nvSpPr>
        <p:spPr>
          <a:xfrm>
            <a:off x="10591800" y="2120900"/>
            <a:ext cx="812800" cy="3048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4A7185D7-2491-1E0F-703B-763FE82A4DDE}"/>
              </a:ext>
            </a:extLst>
          </p:cNvPr>
          <p:cNvSpPr txBox="1"/>
          <p:nvPr/>
        </p:nvSpPr>
        <p:spPr>
          <a:xfrm>
            <a:off x="10591800" y="2133600"/>
            <a:ext cx="8128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CLAUDE</a:t>
            </a:r>
          </a:p>
        </p:txBody>
      </p:sp>
      <p:sp>
        <p:nvSpPr>
          <p:cNvPr id="44" name="Rectangle: Rounded Corners 43">
            <a:extLst>
              <a:ext uri="{FF2B5EF4-FFF2-40B4-BE49-F238E27FC236}">
                <a16:creationId xmlns:a16="http://schemas.microsoft.com/office/drawing/2014/main" id="{D69C62A0-B939-EBBF-8D49-8FC1FC855D27}"/>
              </a:ext>
            </a:extLst>
          </p:cNvPr>
          <p:cNvSpPr/>
          <p:nvPr/>
        </p:nvSpPr>
        <p:spPr>
          <a:xfrm>
            <a:off x="8470900" y="27432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60035DF-4F40-9BD7-9083-95B20A465F69}"/>
              </a:ext>
            </a:extLst>
          </p:cNvPr>
          <p:cNvSpPr txBox="1"/>
          <p:nvPr/>
        </p:nvSpPr>
        <p:spPr>
          <a:xfrm>
            <a:off x="8470900" y="27940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WT</a:t>
            </a:r>
          </a:p>
        </p:txBody>
      </p:sp>
      <p:sp>
        <p:nvSpPr>
          <p:cNvPr id="46" name="TextBox 45">
            <a:extLst>
              <a:ext uri="{FF2B5EF4-FFF2-40B4-BE49-F238E27FC236}">
                <a16:creationId xmlns:a16="http://schemas.microsoft.com/office/drawing/2014/main" id="{D749D6F4-049D-40CF-4414-93947836D741}"/>
              </a:ext>
            </a:extLst>
          </p:cNvPr>
          <p:cNvSpPr txBox="1"/>
          <p:nvPr/>
        </p:nvSpPr>
        <p:spPr>
          <a:xfrm>
            <a:off x="9055100" y="27686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Git worktree + branch</a:t>
            </a:r>
          </a:p>
        </p:txBody>
      </p:sp>
      <p:sp>
        <p:nvSpPr>
          <p:cNvPr id="47" name="Rectangle: Rounded Corners 46">
            <a:extLst>
              <a:ext uri="{FF2B5EF4-FFF2-40B4-BE49-F238E27FC236}">
                <a16:creationId xmlns:a16="http://schemas.microsoft.com/office/drawing/2014/main" id="{ACFCA868-131D-6CD4-97E6-312F25C9A737}"/>
              </a:ext>
            </a:extLst>
          </p:cNvPr>
          <p:cNvSpPr/>
          <p:nvPr/>
        </p:nvSpPr>
        <p:spPr>
          <a:xfrm>
            <a:off x="8470900" y="32004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8E73DAE8-ACFA-A1A6-8FE8-78E71F7A8D72}"/>
              </a:ext>
            </a:extLst>
          </p:cNvPr>
          <p:cNvSpPr txBox="1"/>
          <p:nvPr/>
        </p:nvSpPr>
        <p:spPr>
          <a:xfrm>
            <a:off x="8470900" y="32512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DB</a:t>
            </a:r>
          </a:p>
        </p:txBody>
      </p:sp>
      <p:sp>
        <p:nvSpPr>
          <p:cNvPr id="49" name="TextBox 48">
            <a:extLst>
              <a:ext uri="{FF2B5EF4-FFF2-40B4-BE49-F238E27FC236}">
                <a16:creationId xmlns:a16="http://schemas.microsoft.com/office/drawing/2014/main" id="{C721AE6E-5731-FCF0-ED5A-086029A066A9}"/>
              </a:ext>
            </a:extLst>
          </p:cNvPr>
          <p:cNvSpPr txBox="1"/>
          <p:nvPr/>
        </p:nvSpPr>
        <p:spPr>
          <a:xfrm>
            <a:off x="9055100" y="32258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Isolated test database</a:t>
            </a:r>
          </a:p>
        </p:txBody>
      </p:sp>
      <p:sp>
        <p:nvSpPr>
          <p:cNvPr id="50" name="Rectangle: Rounded Corners 49">
            <a:extLst>
              <a:ext uri="{FF2B5EF4-FFF2-40B4-BE49-F238E27FC236}">
                <a16:creationId xmlns:a16="http://schemas.microsoft.com/office/drawing/2014/main" id="{2058519F-9AEB-5C9B-9106-A09193D63493}"/>
              </a:ext>
            </a:extLst>
          </p:cNvPr>
          <p:cNvSpPr/>
          <p:nvPr/>
        </p:nvSpPr>
        <p:spPr>
          <a:xfrm>
            <a:off x="8470900" y="36576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89D8108C-4505-55F6-216D-B60FE36F02FB}"/>
              </a:ext>
            </a:extLst>
          </p:cNvPr>
          <p:cNvSpPr txBox="1"/>
          <p:nvPr/>
        </p:nvSpPr>
        <p:spPr>
          <a:xfrm>
            <a:off x="8470900" y="37084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RUN</a:t>
            </a:r>
          </a:p>
        </p:txBody>
      </p:sp>
      <p:sp>
        <p:nvSpPr>
          <p:cNvPr id="52" name="TextBox 51">
            <a:extLst>
              <a:ext uri="{FF2B5EF4-FFF2-40B4-BE49-F238E27FC236}">
                <a16:creationId xmlns:a16="http://schemas.microsoft.com/office/drawing/2014/main" id="{28D32A28-3940-FCAB-BAD7-1E88DBD86F8A}"/>
              </a:ext>
            </a:extLst>
          </p:cNvPr>
          <p:cNvSpPr txBox="1"/>
          <p:nvPr/>
        </p:nvSpPr>
        <p:spPr>
          <a:xfrm>
            <a:off x="9055100" y="36830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Tests + task commit</a:t>
            </a:r>
          </a:p>
        </p:txBody>
      </p:sp>
      <p:sp>
        <p:nvSpPr>
          <p:cNvPr id="53" name="Rectangle: Rounded Corners 52">
            <a:extLst>
              <a:ext uri="{FF2B5EF4-FFF2-40B4-BE49-F238E27FC236}">
                <a16:creationId xmlns:a16="http://schemas.microsoft.com/office/drawing/2014/main" id="{2043D860-9682-348E-9AFF-B343EFE6114A}"/>
              </a:ext>
            </a:extLst>
          </p:cNvPr>
          <p:cNvSpPr/>
          <p:nvPr/>
        </p:nvSpPr>
        <p:spPr>
          <a:xfrm>
            <a:off x="8470900" y="41148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441CA176-2E5F-0A07-97DB-0D1D00F29681}"/>
              </a:ext>
            </a:extLst>
          </p:cNvPr>
          <p:cNvSpPr txBox="1"/>
          <p:nvPr/>
        </p:nvSpPr>
        <p:spPr>
          <a:xfrm>
            <a:off x="8470900" y="41656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PORT</a:t>
            </a:r>
          </a:p>
        </p:txBody>
      </p:sp>
      <p:sp>
        <p:nvSpPr>
          <p:cNvPr id="55" name="TextBox 54">
            <a:extLst>
              <a:ext uri="{FF2B5EF4-FFF2-40B4-BE49-F238E27FC236}">
                <a16:creationId xmlns:a16="http://schemas.microsoft.com/office/drawing/2014/main" id="{9EC293FA-3E31-54D9-235F-0DDD39E008E4}"/>
              </a:ext>
            </a:extLst>
          </p:cNvPr>
          <p:cNvSpPr txBox="1"/>
          <p:nvPr/>
        </p:nvSpPr>
        <p:spPr>
          <a:xfrm>
            <a:off x="9055100" y="41402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Preview on demand</a:t>
            </a:r>
          </a:p>
        </p:txBody>
      </p:sp>
      <p:sp>
        <p:nvSpPr>
          <p:cNvPr id="56" name="TextBox 55">
            <a:extLst>
              <a:ext uri="{FF2B5EF4-FFF2-40B4-BE49-F238E27FC236}">
                <a16:creationId xmlns:a16="http://schemas.microsoft.com/office/drawing/2014/main" id="{8D16D5DB-8DE9-5872-53CB-D64D8B2EBE96}"/>
              </a:ext>
            </a:extLst>
          </p:cNvPr>
          <p:cNvSpPr txBox="1"/>
          <p:nvPr/>
        </p:nvSpPr>
        <p:spPr>
          <a:xfrm>
            <a:off x="609600" y="5346700"/>
            <a:ext cx="6604000" cy="276999"/>
          </a:xfrm>
          <a:prstGeom prst="rect">
            <a:avLst/>
          </a:prstGeom>
          <a:noFill/>
        </p:spPr>
        <p:txBody>
          <a:bodyPr vert="horz" wrap="square" lIns="0" tIns="0" rIns="0" bIns="0" rtlCol="0" anchor="t">
            <a:noAutofit/>
          </a:bodyPr>
          <a:lstStyle/>
          <a:p>
            <a:r>
              <a:rPr lang="en-US" sz="1400">
                <a:solidFill>
                  <a:srgbClr val="596579"/>
                </a:solidFill>
                <a:latin typeface="Cascadia Mono" panose="020B0609020000020004" pitchFamily="49" charset="0"/>
              </a:rPr>
              <a:t>Default concurrency: 3 · adjustable without killing active workers</a:t>
            </a:r>
          </a:p>
        </p:txBody>
      </p:sp>
      <p:sp>
        <p:nvSpPr>
          <p:cNvPr id="57" name="TextBox 56">
            <a:extLst>
              <a:ext uri="{FF2B5EF4-FFF2-40B4-BE49-F238E27FC236}">
                <a16:creationId xmlns:a16="http://schemas.microsoft.com/office/drawing/2014/main" id="{E96DE2F9-097D-033D-A86E-5E7409CEF974}"/>
              </a:ext>
            </a:extLst>
          </p:cNvPr>
          <p:cNvSpPr txBox="1"/>
          <p:nvPr/>
        </p:nvSpPr>
        <p:spPr>
          <a:xfrm>
            <a:off x="609600" y="5918200"/>
            <a:ext cx="10972800" cy="276999"/>
          </a:xfrm>
          <a:prstGeom prst="rect">
            <a:avLst/>
          </a:prstGeom>
          <a:noFill/>
        </p:spPr>
        <p:txBody>
          <a:bodyPr vert="horz" wrap="square" lIns="0" tIns="0" rIns="0" bIns="0" rtlCol="0" anchor="t">
            <a:noAutofit/>
          </a:bodyPr>
          <a:lstStyle/>
          <a:p>
            <a:pPr algn="ctr"/>
            <a:r>
              <a:rPr lang="en-US" sz="2200" b="1">
                <a:solidFill>
                  <a:srgbClr val="0B1020"/>
                </a:solidFill>
                <a:latin typeface="Aptos" panose="020B0004020202020204" pitchFamily="34" charset="0"/>
              </a:rPr>
              <a:t>One task → one branch → one commit → one reviewable result</a:t>
            </a:r>
          </a:p>
        </p:txBody>
      </p:sp>
    </p:spTree>
    <p:extLst>
      <p:ext uri="{BB962C8B-B14F-4D97-AF65-F5344CB8AC3E}">
        <p14:creationId xmlns:p14="http://schemas.microsoft.com/office/powerpoint/2010/main" val="3051159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943E21-B176-FD6E-9469-B4D55D4EA899}"/>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Factory owns the lifecycle, not just the agent turn.</a:t>
            </a:r>
          </a:p>
        </p:txBody>
      </p:sp>
      <p:sp>
        <p:nvSpPr>
          <p:cNvPr id="3" name="TextBox 2">
            <a:extLst>
              <a:ext uri="{FF2B5EF4-FFF2-40B4-BE49-F238E27FC236}">
                <a16:creationId xmlns:a16="http://schemas.microsoft.com/office/drawing/2014/main" id="{71AD42DA-6CC7-34F5-47BA-9EFFBB1A038F}"/>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4</a:t>
            </a:r>
          </a:p>
        </p:txBody>
      </p:sp>
      <p:sp>
        <p:nvSpPr>
          <p:cNvPr id="4" name="TextBox 3">
            <a:extLst>
              <a:ext uri="{FF2B5EF4-FFF2-40B4-BE49-F238E27FC236}">
                <a16:creationId xmlns:a16="http://schemas.microsoft.com/office/drawing/2014/main" id="{28C378E6-1D76-E97F-D3A5-CF92FFA856BB}"/>
              </a:ext>
            </a:extLst>
          </p:cNvPr>
          <p:cNvSpPr txBox="1"/>
          <p:nvPr/>
        </p:nvSpPr>
        <p:spPr>
          <a:xfrm>
            <a:off x="558800" y="1168400"/>
            <a:ext cx="8890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Three intake paths converge on one deterministic queue.</a:t>
            </a:r>
          </a:p>
        </p:txBody>
      </p:sp>
      <p:cxnSp>
        <p:nvCxnSpPr>
          <p:cNvPr id="5" name="Straight Connector 4">
            <a:extLst>
              <a:ext uri="{FF2B5EF4-FFF2-40B4-BE49-F238E27FC236}">
                <a16:creationId xmlns:a16="http://schemas.microsoft.com/office/drawing/2014/main" id="{954CCE1F-3482-4402-D4F0-73BE6310857B}"/>
              </a:ext>
            </a:extLst>
          </p:cNvPr>
          <p:cNvCxnSpPr/>
          <p:nvPr/>
        </p:nvCxnSpPr>
        <p:spPr>
          <a:xfrm>
            <a:off x="2184400" y="2247900"/>
            <a:ext cx="1041400" cy="787400"/>
          </a:xfrm>
          <a:prstGeom prst="line">
            <a:avLst/>
          </a:prstGeom>
          <a:ln w="1905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31D9529-8118-BFAC-62EF-3DEE25C8A453}"/>
              </a:ext>
            </a:extLst>
          </p:cNvPr>
          <p:cNvCxnSpPr/>
          <p:nvPr/>
        </p:nvCxnSpPr>
        <p:spPr>
          <a:xfrm>
            <a:off x="2184400" y="3060700"/>
            <a:ext cx="1041400" cy="88900"/>
          </a:xfrm>
          <a:prstGeom prst="line">
            <a:avLst/>
          </a:prstGeom>
          <a:ln w="1905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01E04F8-FD47-3B12-574E-3AE48179EC8C}"/>
              </a:ext>
            </a:extLst>
          </p:cNvPr>
          <p:cNvCxnSpPr/>
          <p:nvPr/>
        </p:nvCxnSpPr>
        <p:spPr>
          <a:xfrm flipV="1">
            <a:off x="2184400" y="3263900"/>
            <a:ext cx="1041400" cy="609600"/>
          </a:xfrm>
          <a:prstGeom prst="line">
            <a:avLst/>
          </a:prstGeom>
          <a:ln w="1905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B6729B2-C260-26CA-6108-41339E067E8D}"/>
              </a:ext>
            </a:extLst>
          </p:cNvPr>
          <p:cNvCxnSpPr/>
          <p:nvPr/>
        </p:nvCxnSpPr>
        <p:spPr>
          <a:xfrm>
            <a:off x="4826000" y="3162300"/>
            <a:ext cx="6350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277FD9C-B3B8-425C-E50B-2F2DC0B6F7EE}"/>
              </a:ext>
            </a:extLst>
          </p:cNvPr>
          <p:cNvCxnSpPr/>
          <p:nvPr/>
        </p:nvCxnSpPr>
        <p:spPr>
          <a:xfrm>
            <a:off x="7061200" y="3162300"/>
            <a:ext cx="6350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B7A14CF-0999-14A5-8931-7C8378E05A56}"/>
              </a:ext>
            </a:extLst>
          </p:cNvPr>
          <p:cNvCxnSpPr/>
          <p:nvPr/>
        </p:nvCxnSpPr>
        <p:spPr>
          <a:xfrm>
            <a:off x="9296400" y="3162300"/>
            <a:ext cx="6350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2CEB3C0-51A5-3743-E7D2-7C98125C84F4}"/>
              </a:ext>
            </a:extLst>
          </p:cNvPr>
          <p:cNvCxnSpPr/>
          <p:nvPr/>
        </p:nvCxnSpPr>
        <p:spPr>
          <a:xfrm>
            <a:off x="10769600" y="3810000"/>
            <a:ext cx="0" cy="8001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6ED4258-B9A9-00E2-CB95-2081F205E2E0}"/>
              </a:ext>
            </a:extLst>
          </p:cNvPr>
          <p:cNvCxnSpPr/>
          <p:nvPr/>
        </p:nvCxnSpPr>
        <p:spPr>
          <a:xfrm flipH="1">
            <a:off x="8940800" y="5257800"/>
            <a:ext cx="9906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9003398-EF36-BBC3-D268-63C52690AED7}"/>
              </a:ext>
            </a:extLst>
          </p:cNvPr>
          <p:cNvCxnSpPr/>
          <p:nvPr/>
        </p:nvCxnSpPr>
        <p:spPr>
          <a:xfrm flipH="1">
            <a:off x="6350000" y="5257800"/>
            <a:ext cx="9906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E40A17F9-BF06-AD46-25AF-407ACE6F16F6}"/>
              </a:ext>
            </a:extLst>
          </p:cNvPr>
          <p:cNvSpPr/>
          <p:nvPr/>
        </p:nvSpPr>
        <p:spPr>
          <a:xfrm>
            <a:off x="609600" y="1841500"/>
            <a:ext cx="1574800" cy="685800"/>
          </a:xfrm>
          <a:prstGeom prst="roundRect">
            <a:avLst/>
          </a:prstGeom>
          <a:solidFill>
            <a:srgbClr val="D8E9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336B7A1-4C4A-E464-EB38-FCFF2C5CBA78}"/>
              </a:ext>
            </a:extLst>
          </p:cNvPr>
          <p:cNvSpPr txBox="1"/>
          <p:nvPr/>
        </p:nvSpPr>
        <p:spPr>
          <a:xfrm>
            <a:off x="762000" y="2032000"/>
            <a:ext cx="1270000" cy="276999"/>
          </a:xfrm>
          <a:prstGeom prst="rect">
            <a:avLst/>
          </a:prstGeom>
          <a:noFill/>
        </p:spPr>
        <p:txBody>
          <a:bodyPr vert="horz" wrap="square" lIns="0" tIns="0" rIns="0" bIns="0" rtlCol="0" anchor="ctr">
            <a:noAutofit/>
          </a:bodyPr>
          <a:lstStyle/>
          <a:p>
            <a:pPr algn="ctr"/>
            <a:r>
              <a:rPr lang="en-US" sz="1400" b="1">
                <a:solidFill>
                  <a:srgbClr val="0B1020"/>
                </a:solidFill>
                <a:latin typeface="Aptos" panose="020B0004020202020204" pitchFamily="34" charset="0"/>
              </a:rPr>
              <a:t>Asana · read-only</a:t>
            </a:r>
          </a:p>
        </p:txBody>
      </p:sp>
      <p:sp>
        <p:nvSpPr>
          <p:cNvPr id="16" name="Rectangle: Rounded Corners 15">
            <a:extLst>
              <a:ext uri="{FF2B5EF4-FFF2-40B4-BE49-F238E27FC236}">
                <a16:creationId xmlns:a16="http://schemas.microsoft.com/office/drawing/2014/main" id="{B1F99E33-2318-E0A7-6345-BCC0750F1FE4}"/>
              </a:ext>
            </a:extLst>
          </p:cNvPr>
          <p:cNvSpPr/>
          <p:nvPr/>
        </p:nvSpPr>
        <p:spPr>
          <a:xfrm>
            <a:off x="609600" y="2654300"/>
            <a:ext cx="1574800" cy="685800"/>
          </a:xfrm>
          <a:prstGeom prst="roundRect">
            <a:avLst/>
          </a:prstGeom>
          <a:solidFill>
            <a:srgbClr val="DDF6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01007CE-05A1-AD14-4E93-CE43AAE0142F}"/>
              </a:ext>
            </a:extLst>
          </p:cNvPr>
          <p:cNvSpPr txBox="1"/>
          <p:nvPr/>
        </p:nvSpPr>
        <p:spPr>
          <a:xfrm>
            <a:off x="762000" y="2844800"/>
            <a:ext cx="1270000" cy="276999"/>
          </a:xfrm>
          <a:prstGeom prst="rect">
            <a:avLst/>
          </a:prstGeom>
          <a:noFill/>
        </p:spPr>
        <p:txBody>
          <a:bodyPr vert="horz" wrap="square" lIns="0" tIns="0" rIns="0" bIns="0" rtlCol="0" anchor="ctr">
            <a:noAutofit/>
          </a:bodyPr>
          <a:lstStyle/>
          <a:p>
            <a:pPr algn="ctr"/>
            <a:r>
              <a:rPr lang="en-US" sz="1400" b="1">
                <a:solidFill>
                  <a:srgbClr val="0B1020"/>
                </a:solidFill>
                <a:latin typeface="Cascadia Mono" panose="020B0609020000020004" pitchFamily="49" charset="0"/>
              </a:rPr>
              <a:t>factory new</a:t>
            </a:r>
          </a:p>
        </p:txBody>
      </p:sp>
      <p:sp>
        <p:nvSpPr>
          <p:cNvPr id="18" name="Rectangle: Rounded Corners 17">
            <a:extLst>
              <a:ext uri="{FF2B5EF4-FFF2-40B4-BE49-F238E27FC236}">
                <a16:creationId xmlns:a16="http://schemas.microsoft.com/office/drawing/2014/main" id="{D89E726C-9109-669E-9AD3-887D283F991C}"/>
              </a:ext>
            </a:extLst>
          </p:cNvPr>
          <p:cNvSpPr/>
          <p:nvPr/>
        </p:nvSpPr>
        <p:spPr>
          <a:xfrm>
            <a:off x="609600" y="3467100"/>
            <a:ext cx="1574800" cy="6858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08ACCDA-CED0-DC65-AB74-94274C4C1008}"/>
              </a:ext>
            </a:extLst>
          </p:cNvPr>
          <p:cNvSpPr txBox="1"/>
          <p:nvPr/>
        </p:nvSpPr>
        <p:spPr>
          <a:xfrm>
            <a:off x="762000" y="3657600"/>
            <a:ext cx="1270000" cy="276999"/>
          </a:xfrm>
          <a:prstGeom prst="rect">
            <a:avLst/>
          </a:prstGeom>
          <a:noFill/>
        </p:spPr>
        <p:txBody>
          <a:bodyPr vert="horz" wrap="square" lIns="0" tIns="0" rIns="0" bIns="0" rtlCol="0" anchor="ctr">
            <a:noAutofit/>
          </a:bodyPr>
          <a:lstStyle/>
          <a:p>
            <a:pPr algn="ctr"/>
            <a:r>
              <a:rPr lang="en-US" sz="1400" b="1">
                <a:solidFill>
                  <a:srgbClr val="0B1020"/>
                </a:solidFill>
                <a:latin typeface="Cascadia Mono" panose="020B0609020000020004" pitchFamily="49" charset="0"/>
              </a:rPr>
              <a:t>add --file</a:t>
            </a:r>
          </a:p>
        </p:txBody>
      </p:sp>
      <p:sp>
        <p:nvSpPr>
          <p:cNvPr id="20" name="Rectangle: Rounded Corners 19">
            <a:extLst>
              <a:ext uri="{FF2B5EF4-FFF2-40B4-BE49-F238E27FC236}">
                <a16:creationId xmlns:a16="http://schemas.microsoft.com/office/drawing/2014/main" id="{C6FCEC07-661D-B840-A4AB-D137F7F51073}"/>
              </a:ext>
            </a:extLst>
          </p:cNvPr>
          <p:cNvSpPr/>
          <p:nvPr/>
        </p:nvSpPr>
        <p:spPr>
          <a:xfrm>
            <a:off x="3225800" y="2730500"/>
            <a:ext cx="1600200" cy="863600"/>
          </a:xfrm>
          <a:prstGeom prst="roundRect">
            <a:avLst/>
          </a:prstGeom>
          <a:solidFill>
            <a:srgbClr val="E9EEF5"/>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509640B-FC48-48B0-1CD1-BF1085C581E3}"/>
              </a:ext>
            </a:extLst>
          </p:cNvPr>
          <p:cNvSpPr txBox="1"/>
          <p:nvPr/>
        </p:nvSpPr>
        <p:spPr>
          <a:xfrm>
            <a:off x="33528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Queue + state</a:t>
            </a:r>
          </a:p>
        </p:txBody>
      </p:sp>
      <p:sp>
        <p:nvSpPr>
          <p:cNvPr id="22" name="Rectangle: Rounded Corners 21">
            <a:extLst>
              <a:ext uri="{FF2B5EF4-FFF2-40B4-BE49-F238E27FC236}">
                <a16:creationId xmlns:a16="http://schemas.microsoft.com/office/drawing/2014/main" id="{C579C5D6-AC62-4D3A-40C2-C5C665CAD7BE}"/>
              </a:ext>
            </a:extLst>
          </p:cNvPr>
          <p:cNvSpPr/>
          <p:nvPr/>
        </p:nvSpPr>
        <p:spPr>
          <a:xfrm>
            <a:off x="5461000" y="2730500"/>
            <a:ext cx="1600200" cy="863600"/>
          </a:xfrm>
          <a:prstGeom prst="roundRect">
            <a:avLst/>
          </a:prstGeom>
          <a:solidFill>
            <a:srgbClr val="DDE5EF"/>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B69871E-181F-F4B7-F6E9-B5FAB76C719D}"/>
              </a:ext>
            </a:extLst>
          </p:cNvPr>
          <p:cNvSpPr txBox="1"/>
          <p:nvPr/>
        </p:nvSpPr>
        <p:spPr>
          <a:xfrm>
            <a:off x="55880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Native scheduler</a:t>
            </a:r>
          </a:p>
        </p:txBody>
      </p:sp>
      <p:sp>
        <p:nvSpPr>
          <p:cNvPr id="24" name="Rectangle: Rounded Corners 23">
            <a:extLst>
              <a:ext uri="{FF2B5EF4-FFF2-40B4-BE49-F238E27FC236}">
                <a16:creationId xmlns:a16="http://schemas.microsoft.com/office/drawing/2014/main" id="{13DD2BBA-B492-A1C2-13ED-26ECAA06687C}"/>
              </a:ext>
            </a:extLst>
          </p:cNvPr>
          <p:cNvSpPr/>
          <p:nvPr/>
        </p:nvSpPr>
        <p:spPr>
          <a:xfrm>
            <a:off x="7696200" y="2730500"/>
            <a:ext cx="1600200" cy="863600"/>
          </a:xfrm>
          <a:prstGeom prst="roundRect">
            <a:avLst/>
          </a:prstGeom>
          <a:solidFill>
            <a:srgbClr val="D8E9FF"/>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568D695-25C7-E0AE-13E6-9F94DEDA75EC}"/>
              </a:ext>
            </a:extLst>
          </p:cNvPr>
          <p:cNvSpPr txBox="1"/>
          <p:nvPr/>
        </p:nvSpPr>
        <p:spPr>
          <a:xfrm>
            <a:off x="78232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Worker environment</a:t>
            </a:r>
          </a:p>
        </p:txBody>
      </p:sp>
      <p:sp>
        <p:nvSpPr>
          <p:cNvPr id="26" name="Rectangle: Rounded Corners 25">
            <a:extLst>
              <a:ext uri="{FF2B5EF4-FFF2-40B4-BE49-F238E27FC236}">
                <a16:creationId xmlns:a16="http://schemas.microsoft.com/office/drawing/2014/main" id="{A29C7EA6-DE40-9BD7-F53E-6A9EC95CF384}"/>
              </a:ext>
            </a:extLst>
          </p:cNvPr>
          <p:cNvSpPr/>
          <p:nvPr/>
        </p:nvSpPr>
        <p:spPr>
          <a:xfrm>
            <a:off x="9931400" y="2730500"/>
            <a:ext cx="1600200" cy="863600"/>
          </a:xfrm>
          <a:prstGeom prst="roundRect">
            <a:avLst/>
          </a:prstGeom>
          <a:solidFill>
            <a:srgbClr val="DDF6EC"/>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1F6936E-3F3F-A2FC-F913-79A27239AAFB}"/>
              </a:ext>
            </a:extLst>
          </p:cNvPr>
          <p:cNvSpPr txBox="1"/>
          <p:nvPr/>
        </p:nvSpPr>
        <p:spPr>
          <a:xfrm>
            <a:off x="100584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Tests + preview</a:t>
            </a:r>
          </a:p>
        </p:txBody>
      </p:sp>
      <p:sp>
        <p:nvSpPr>
          <p:cNvPr id="28" name="Rectangle: Rounded Corners 27">
            <a:extLst>
              <a:ext uri="{FF2B5EF4-FFF2-40B4-BE49-F238E27FC236}">
                <a16:creationId xmlns:a16="http://schemas.microsoft.com/office/drawing/2014/main" id="{4403492A-45B8-1DFC-DEBA-8C0780B0FAE0}"/>
              </a:ext>
            </a:extLst>
          </p:cNvPr>
          <p:cNvSpPr/>
          <p:nvPr/>
        </p:nvSpPr>
        <p:spPr>
          <a:xfrm>
            <a:off x="9931400" y="4826000"/>
            <a:ext cx="1600200" cy="863600"/>
          </a:xfrm>
          <a:prstGeom prst="roundRect">
            <a:avLst/>
          </a:prstGeom>
          <a:solidFill>
            <a:srgbClr val="FFF0CE"/>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5DDE958-C8F7-AD1E-F22B-F696D42ADDD9}"/>
              </a:ext>
            </a:extLst>
          </p:cNvPr>
          <p:cNvSpPr txBox="1"/>
          <p:nvPr/>
        </p:nvSpPr>
        <p:spPr>
          <a:xfrm>
            <a:off x="10058400" y="49911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Human review</a:t>
            </a:r>
          </a:p>
        </p:txBody>
      </p:sp>
      <p:sp>
        <p:nvSpPr>
          <p:cNvPr id="30" name="Rectangle: Rounded Corners 29">
            <a:extLst>
              <a:ext uri="{FF2B5EF4-FFF2-40B4-BE49-F238E27FC236}">
                <a16:creationId xmlns:a16="http://schemas.microsoft.com/office/drawing/2014/main" id="{2A93D710-886F-A1DD-3CC0-FE2C977D753A}"/>
              </a:ext>
            </a:extLst>
          </p:cNvPr>
          <p:cNvSpPr/>
          <p:nvPr/>
        </p:nvSpPr>
        <p:spPr>
          <a:xfrm>
            <a:off x="7340600" y="4826000"/>
            <a:ext cx="1600200" cy="863600"/>
          </a:xfrm>
          <a:prstGeom prst="roundRect">
            <a:avLst/>
          </a:prstGeom>
          <a:solidFill>
            <a:srgbClr val="D8E9FF"/>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E9207B7-9809-A22E-6484-427F0D2349BD}"/>
              </a:ext>
            </a:extLst>
          </p:cNvPr>
          <p:cNvSpPr txBox="1"/>
          <p:nvPr/>
        </p:nvSpPr>
        <p:spPr>
          <a:xfrm>
            <a:off x="7467600" y="49911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Exact-SHA publish</a:t>
            </a:r>
          </a:p>
        </p:txBody>
      </p:sp>
      <p:sp>
        <p:nvSpPr>
          <p:cNvPr id="32" name="Rectangle: Rounded Corners 31">
            <a:extLst>
              <a:ext uri="{FF2B5EF4-FFF2-40B4-BE49-F238E27FC236}">
                <a16:creationId xmlns:a16="http://schemas.microsoft.com/office/drawing/2014/main" id="{EEC94536-C9E9-1457-903D-E0B6FD7E8080}"/>
              </a:ext>
            </a:extLst>
          </p:cNvPr>
          <p:cNvSpPr/>
          <p:nvPr/>
        </p:nvSpPr>
        <p:spPr>
          <a:xfrm>
            <a:off x="4749800" y="4826000"/>
            <a:ext cx="1600200" cy="863600"/>
          </a:xfrm>
          <a:prstGeom prst="roundRect">
            <a:avLst/>
          </a:prstGeom>
          <a:solidFill>
            <a:srgbClr val="E9EEF5"/>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6081467-E34D-0122-3E43-8533622D6B55}"/>
              </a:ext>
            </a:extLst>
          </p:cNvPr>
          <p:cNvSpPr txBox="1"/>
          <p:nvPr/>
        </p:nvSpPr>
        <p:spPr>
          <a:xfrm>
            <a:off x="4876800" y="49911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Guarded cleanup</a:t>
            </a:r>
          </a:p>
        </p:txBody>
      </p:sp>
      <p:sp>
        <p:nvSpPr>
          <p:cNvPr id="34" name="TextBox 33">
            <a:extLst>
              <a:ext uri="{FF2B5EF4-FFF2-40B4-BE49-F238E27FC236}">
                <a16:creationId xmlns:a16="http://schemas.microsoft.com/office/drawing/2014/main" id="{0F0ADC0A-9920-E0C6-96D3-EF30DA3817BE}"/>
              </a:ext>
            </a:extLst>
          </p:cNvPr>
          <p:cNvSpPr txBox="1"/>
          <p:nvPr/>
        </p:nvSpPr>
        <p:spPr>
          <a:xfrm>
            <a:off x="4749800" y="6032500"/>
            <a:ext cx="6781800" cy="276999"/>
          </a:xfrm>
          <a:prstGeom prst="rect">
            <a:avLst/>
          </a:prstGeom>
          <a:noFill/>
        </p:spPr>
        <p:txBody>
          <a:bodyPr vert="horz" wrap="square" lIns="0" tIns="0" rIns="0" bIns="0" rtlCol="0" anchor="t">
            <a:noAutofit/>
          </a:bodyPr>
          <a:lstStyle/>
          <a:p>
            <a:pPr algn="r"/>
            <a:r>
              <a:rPr lang="en-US" sz="1500">
                <a:solidFill>
                  <a:srgbClr val="596579"/>
                </a:solidFill>
                <a:latin typeface="Aptos" panose="020B0004020202020204" pitchFamily="34" charset="0"/>
              </a:rPr>
              <a:t>Serialized integration; parallel implementation.</a:t>
            </a:r>
          </a:p>
        </p:txBody>
      </p:sp>
    </p:spTree>
    <p:extLst>
      <p:ext uri="{BB962C8B-B14F-4D97-AF65-F5344CB8AC3E}">
        <p14:creationId xmlns:p14="http://schemas.microsoft.com/office/powerpoint/2010/main" val="380197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6D4FF3-859B-F202-7FE7-55DA0FBD22D6}"/>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Code runs the factory. AI supplies judgment.</a:t>
            </a:r>
          </a:p>
        </p:txBody>
      </p:sp>
      <p:sp>
        <p:nvSpPr>
          <p:cNvPr id="3" name="TextBox 2">
            <a:extLst>
              <a:ext uri="{FF2B5EF4-FFF2-40B4-BE49-F238E27FC236}">
                <a16:creationId xmlns:a16="http://schemas.microsoft.com/office/drawing/2014/main" id="{1EA72451-3DAD-25F9-3063-DC5FBAE33878}"/>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5</a:t>
            </a:r>
          </a:p>
        </p:txBody>
      </p:sp>
      <p:sp>
        <p:nvSpPr>
          <p:cNvPr id="4" name="Rectangle: Rounded Corners 3">
            <a:extLst>
              <a:ext uri="{FF2B5EF4-FFF2-40B4-BE49-F238E27FC236}">
                <a16:creationId xmlns:a16="http://schemas.microsoft.com/office/drawing/2014/main" id="{88AAA90A-1267-9393-CDB6-EEB377A6EC2D}"/>
              </a:ext>
            </a:extLst>
          </p:cNvPr>
          <p:cNvSpPr/>
          <p:nvPr/>
        </p:nvSpPr>
        <p:spPr>
          <a:xfrm>
            <a:off x="558800" y="1498600"/>
            <a:ext cx="5207000" cy="42164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65CD779-87FE-3017-1BFD-1377E4D9B408}"/>
              </a:ext>
            </a:extLst>
          </p:cNvPr>
          <p:cNvSpPr/>
          <p:nvPr/>
        </p:nvSpPr>
        <p:spPr>
          <a:xfrm>
            <a:off x="6426200" y="1498600"/>
            <a:ext cx="5207000" cy="4216400"/>
          </a:xfrm>
          <a:prstGeom prst="roundRect">
            <a:avLst/>
          </a:prstGeom>
          <a:solidFill>
            <a:srgbClr val="FFFFFF"/>
          </a:solidFill>
          <a:ln w="1143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9B6916E-3B09-3969-A1E2-0825784C587D}"/>
              </a:ext>
            </a:extLst>
          </p:cNvPr>
          <p:cNvSpPr/>
          <p:nvPr/>
        </p:nvSpPr>
        <p:spPr>
          <a:xfrm>
            <a:off x="863600" y="1816100"/>
            <a:ext cx="1600200" cy="304800"/>
          </a:xfrm>
          <a:prstGeom prst="round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C212E37-41D8-31C8-7FCB-DD2DFB3EF19F}"/>
              </a:ext>
            </a:extLst>
          </p:cNvPr>
          <p:cNvSpPr txBox="1"/>
          <p:nvPr/>
        </p:nvSpPr>
        <p:spPr>
          <a:xfrm>
            <a:off x="863600" y="1828800"/>
            <a:ext cx="16002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DETERMINISTIC</a:t>
            </a:r>
          </a:p>
        </p:txBody>
      </p:sp>
      <p:sp>
        <p:nvSpPr>
          <p:cNvPr id="8" name="TextBox 7">
            <a:extLst>
              <a:ext uri="{FF2B5EF4-FFF2-40B4-BE49-F238E27FC236}">
                <a16:creationId xmlns:a16="http://schemas.microsoft.com/office/drawing/2014/main" id="{C8B0DB3B-3112-1263-4F38-A7DAF443A458}"/>
              </a:ext>
            </a:extLst>
          </p:cNvPr>
          <p:cNvSpPr txBox="1"/>
          <p:nvPr/>
        </p:nvSpPr>
        <p:spPr>
          <a:xfrm>
            <a:off x="863600" y="2336800"/>
            <a:ext cx="4191000" cy="276999"/>
          </a:xfrm>
          <a:prstGeom prst="rect">
            <a:avLst/>
          </a:prstGeom>
          <a:noFill/>
        </p:spPr>
        <p:txBody>
          <a:bodyPr vert="horz" wrap="square" lIns="0" tIns="0" rIns="0" bIns="0" rtlCol="0" anchor="t">
            <a:noAutofit/>
          </a:bodyPr>
          <a:lstStyle/>
          <a:p>
            <a:r>
              <a:rPr lang="en-US" sz="2500" b="1">
                <a:solidFill>
                  <a:srgbClr val="FFFFFF"/>
                </a:solidFill>
                <a:latin typeface="Aptos" panose="020B0004020202020204" pitchFamily="34" charset="0"/>
              </a:rPr>
              <a:t>PowerShell owns mechanism</a:t>
            </a:r>
          </a:p>
        </p:txBody>
      </p:sp>
      <p:sp>
        <p:nvSpPr>
          <p:cNvPr id="9" name="TextBox 8">
            <a:extLst>
              <a:ext uri="{FF2B5EF4-FFF2-40B4-BE49-F238E27FC236}">
                <a16:creationId xmlns:a16="http://schemas.microsoft.com/office/drawing/2014/main" id="{CC5EDDFA-18E4-DE05-BDAC-CBA0E2DE274B}"/>
              </a:ext>
            </a:extLst>
          </p:cNvPr>
          <p:cNvSpPr txBox="1"/>
          <p:nvPr/>
        </p:nvSpPr>
        <p:spPr>
          <a:xfrm>
            <a:off x="889000" y="30607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0" name="TextBox 9">
            <a:extLst>
              <a:ext uri="{FF2B5EF4-FFF2-40B4-BE49-F238E27FC236}">
                <a16:creationId xmlns:a16="http://schemas.microsoft.com/office/drawing/2014/main" id="{021EDCCA-61AA-C51E-C831-52BAA7789F93}"/>
              </a:ext>
            </a:extLst>
          </p:cNvPr>
          <p:cNvSpPr txBox="1"/>
          <p:nvPr/>
        </p:nvSpPr>
        <p:spPr>
          <a:xfrm>
            <a:off x="1320800" y="30607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state + deduplication</a:t>
            </a:r>
          </a:p>
        </p:txBody>
      </p:sp>
      <p:sp>
        <p:nvSpPr>
          <p:cNvPr id="11" name="TextBox 10">
            <a:extLst>
              <a:ext uri="{FF2B5EF4-FFF2-40B4-BE49-F238E27FC236}">
                <a16:creationId xmlns:a16="http://schemas.microsoft.com/office/drawing/2014/main" id="{426A3AFA-79A5-1D92-6ED5-E20D0A258D99}"/>
              </a:ext>
            </a:extLst>
          </p:cNvPr>
          <p:cNvSpPr txBox="1"/>
          <p:nvPr/>
        </p:nvSpPr>
        <p:spPr>
          <a:xfrm>
            <a:off x="889000" y="35433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2" name="TextBox 11">
            <a:extLst>
              <a:ext uri="{FF2B5EF4-FFF2-40B4-BE49-F238E27FC236}">
                <a16:creationId xmlns:a16="http://schemas.microsoft.com/office/drawing/2014/main" id="{F68B670B-6438-9B9A-BB81-8D8DA5C29AFF}"/>
              </a:ext>
            </a:extLst>
          </p:cNvPr>
          <p:cNvSpPr txBox="1"/>
          <p:nvPr/>
        </p:nvSpPr>
        <p:spPr>
          <a:xfrm>
            <a:off x="1320800" y="35433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scheduler + concurrency</a:t>
            </a:r>
          </a:p>
        </p:txBody>
      </p:sp>
      <p:sp>
        <p:nvSpPr>
          <p:cNvPr id="13" name="TextBox 12">
            <a:extLst>
              <a:ext uri="{FF2B5EF4-FFF2-40B4-BE49-F238E27FC236}">
                <a16:creationId xmlns:a16="http://schemas.microsoft.com/office/drawing/2014/main" id="{0B525320-05E2-641D-2EF6-67E234DCDC17}"/>
              </a:ext>
            </a:extLst>
          </p:cNvPr>
          <p:cNvSpPr txBox="1"/>
          <p:nvPr/>
        </p:nvSpPr>
        <p:spPr>
          <a:xfrm>
            <a:off x="889000" y="40259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4" name="TextBox 13">
            <a:extLst>
              <a:ext uri="{FF2B5EF4-FFF2-40B4-BE49-F238E27FC236}">
                <a16:creationId xmlns:a16="http://schemas.microsoft.com/office/drawing/2014/main" id="{4140F5D8-0F32-AA42-E57B-A4A3FBFE85B4}"/>
              </a:ext>
            </a:extLst>
          </p:cNvPr>
          <p:cNvSpPr txBox="1"/>
          <p:nvPr/>
        </p:nvSpPr>
        <p:spPr>
          <a:xfrm>
            <a:off x="1320800" y="40259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worktrees + DB + ports</a:t>
            </a:r>
          </a:p>
        </p:txBody>
      </p:sp>
      <p:sp>
        <p:nvSpPr>
          <p:cNvPr id="15" name="TextBox 14">
            <a:extLst>
              <a:ext uri="{FF2B5EF4-FFF2-40B4-BE49-F238E27FC236}">
                <a16:creationId xmlns:a16="http://schemas.microsoft.com/office/drawing/2014/main" id="{D90A89AF-58CB-3E92-FC4A-15A025FF0D3A}"/>
              </a:ext>
            </a:extLst>
          </p:cNvPr>
          <p:cNvSpPr txBox="1"/>
          <p:nvPr/>
        </p:nvSpPr>
        <p:spPr>
          <a:xfrm>
            <a:off x="889000" y="45085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6" name="TextBox 15">
            <a:extLst>
              <a:ext uri="{FF2B5EF4-FFF2-40B4-BE49-F238E27FC236}">
                <a16:creationId xmlns:a16="http://schemas.microsoft.com/office/drawing/2014/main" id="{260B3845-5A26-0198-AFFD-17244B1D65F5}"/>
              </a:ext>
            </a:extLst>
          </p:cNvPr>
          <p:cNvSpPr txBox="1"/>
          <p:nvPr/>
        </p:nvSpPr>
        <p:spPr>
          <a:xfrm>
            <a:off x="1320800" y="45085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checks + Git + exact SHA</a:t>
            </a:r>
          </a:p>
        </p:txBody>
      </p:sp>
      <p:sp>
        <p:nvSpPr>
          <p:cNvPr id="17" name="TextBox 16">
            <a:extLst>
              <a:ext uri="{FF2B5EF4-FFF2-40B4-BE49-F238E27FC236}">
                <a16:creationId xmlns:a16="http://schemas.microsoft.com/office/drawing/2014/main" id="{5C05D926-A2CC-AC37-8AED-2AA077616FDE}"/>
              </a:ext>
            </a:extLst>
          </p:cNvPr>
          <p:cNvSpPr txBox="1"/>
          <p:nvPr/>
        </p:nvSpPr>
        <p:spPr>
          <a:xfrm>
            <a:off x="889000" y="49911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8" name="TextBox 17">
            <a:extLst>
              <a:ext uri="{FF2B5EF4-FFF2-40B4-BE49-F238E27FC236}">
                <a16:creationId xmlns:a16="http://schemas.microsoft.com/office/drawing/2014/main" id="{89C36FBC-9293-E4E1-99B1-A4331C1016BE}"/>
              </a:ext>
            </a:extLst>
          </p:cNvPr>
          <p:cNvSpPr txBox="1"/>
          <p:nvPr/>
        </p:nvSpPr>
        <p:spPr>
          <a:xfrm>
            <a:off x="1320800" y="49911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push + reachability + cleanup</a:t>
            </a:r>
          </a:p>
        </p:txBody>
      </p:sp>
      <p:sp>
        <p:nvSpPr>
          <p:cNvPr id="19" name="Rectangle: Rounded Corners 18">
            <a:extLst>
              <a:ext uri="{FF2B5EF4-FFF2-40B4-BE49-F238E27FC236}">
                <a16:creationId xmlns:a16="http://schemas.microsoft.com/office/drawing/2014/main" id="{301B00B7-697E-15B4-AD97-6C81D8498E08}"/>
              </a:ext>
            </a:extLst>
          </p:cNvPr>
          <p:cNvSpPr/>
          <p:nvPr/>
        </p:nvSpPr>
        <p:spPr>
          <a:xfrm>
            <a:off x="6731000" y="1816100"/>
            <a:ext cx="1168400" cy="304800"/>
          </a:xfrm>
          <a:prstGeom prst="roundRect">
            <a:avLst/>
          </a:prstGeom>
          <a:solidFill>
            <a:srgbClr val="D8E9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8ADC018-6182-72C0-4234-634AAD07BB63}"/>
              </a:ext>
            </a:extLst>
          </p:cNvPr>
          <p:cNvSpPr txBox="1"/>
          <p:nvPr/>
        </p:nvSpPr>
        <p:spPr>
          <a:xfrm>
            <a:off x="6731000" y="1828800"/>
            <a:ext cx="11684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JUDGMENT</a:t>
            </a:r>
          </a:p>
        </p:txBody>
      </p:sp>
      <p:sp>
        <p:nvSpPr>
          <p:cNvPr id="21" name="TextBox 20">
            <a:extLst>
              <a:ext uri="{FF2B5EF4-FFF2-40B4-BE49-F238E27FC236}">
                <a16:creationId xmlns:a16="http://schemas.microsoft.com/office/drawing/2014/main" id="{031623F7-A73C-B7B7-345E-1E10DBF754F7}"/>
              </a:ext>
            </a:extLst>
          </p:cNvPr>
          <p:cNvSpPr txBox="1"/>
          <p:nvPr/>
        </p:nvSpPr>
        <p:spPr>
          <a:xfrm>
            <a:off x="6731000" y="2336800"/>
            <a:ext cx="4191000" cy="276999"/>
          </a:xfrm>
          <a:prstGeom prst="rect">
            <a:avLst/>
          </a:prstGeom>
          <a:noFill/>
        </p:spPr>
        <p:txBody>
          <a:bodyPr vert="horz" wrap="square" lIns="0" tIns="0" rIns="0" bIns="0" rtlCol="0" anchor="t">
            <a:noAutofit/>
          </a:bodyPr>
          <a:lstStyle/>
          <a:p>
            <a:r>
              <a:rPr lang="en-US" sz="2500" b="1">
                <a:solidFill>
                  <a:srgbClr val="0B1020"/>
                </a:solidFill>
                <a:latin typeface="Aptos" panose="020B0004020202020204" pitchFamily="34" charset="0"/>
              </a:rPr>
              <a:t>AI works where ambiguity lives</a:t>
            </a:r>
          </a:p>
        </p:txBody>
      </p:sp>
      <p:sp>
        <p:nvSpPr>
          <p:cNvPr id="22" name="TextBox 21">
            <a:extLst>
              <a:ext uri="{FF2B5EF4-FFF2-40B4-BE49-F238E27FC236}">
                <a16:creationId xmlns:a16="http://schemas.microsoft.com/office/drawing/2014/main" id="{33143993-563D-5587-74B5-9B8C5808A16D}"/>
              </a:ext>
            </a:extLst>
          </p:cNvPr>
          <p:cNvSpPr txBox="1"/>
          <p:nvPr/>
        </p:nvSpPr>
        <p:spPr>
          <a:xfrm>
            <a:off x="6756400" y="30607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3" name="TextBox 22">
            <a:extLst>
              <a:ext uri="{FF2B5EF4-FFF2-40B4-BE49-F238E27FC236}">
                <a16:creationId xmlns:a16="http://schemas.microsoft.com/office/drawing/2014/main" id="{64247A59-93EE-BD6A-DEB9-B9A7BA5B2619}"/>
              </a:ext>
            </a:extLst>
          </p:cNvPr>
          <p:cNvSpPr txBox="1"/>
          <p:nvPr/>
        </p:nvSpPr>
        <p:spPr>
          <a:xfrm>
            <a:off x="7150100" y="30607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normalize task meaning</a:t>
            </a:r>
          </a:p>
        </p:txBody>
      </p:sp>
      <p:sp>
        <p:nvSpPr>
          <p:cNvPr id="24" name="TextBox 23">
            <a:extLst>
              <a:ext uri="{FF2B5EF4-FFF2-40B4-BE49-F238E27FC236}">
                <a16:creationId xmlns:a16="http://schemas.microsoft.com/office/drawing/2014/main" id="{0ECD9A49-2A40-7E20-17B8-A699158035D0}"/>
              </a:ext>
            </a:extLst>
          </p:cNvPr>
          <p:cNvSpPr txBox="1"/>
          <p:nvPr/>
        </p:nvSpPr>
        <p:spPr>
          <a:xfrm>
            <a:off x="6756400" y="35433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5" name="TextBox 24">
            <a:extLst>
              <a:ext uri="{FF2B5EF4-FFF2-40B4-BE49-F238E27FC236}">
                <a16:creationId xmlns:a16="http://schemas.microsoft.com/office/drawing/2014/main" id="{14FCCDB4-BFB1-80CF-8062-783221274208}"/>
              </a:ext>
            </a:extLst>
          </p:cNvPr>
          <p:cNvSpPr txBox="1"/>
          <p:nvPr/>
        </p:nvSpPr>
        <p:spPr>
          <a:xfrm>
            <a:off x="7150100" y="35433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plan and implement code</a:t>
            </a:r>
          </a:p>
        </p:txBody>
      </p:sp>
      <p:sp>
        <p:nvSpPr>
          <p:cNvPr id="26" name="TextBox 25">
            <a:extLst>
              <a:ext uri="{FF2B5EF4-FFF2-40B4-BE49-F238E27FC236}">
                <a16:creationId xmlns:a16="http://schemas.microsoft.com/office/drawing/2014/main" id="{7D33D54B-C062-3ADB-BF5B-2304CC94343B}"/>
              </a:ext>
            </a:extLst>
          </p:cNvPr>
          <p:cNvSpPr txBox="1"/>
          <p:nvPr/>
        </p:nvSpPr>
        <p:spPr>
          <a:xfrm>
            <a:off x="6756400" y="40259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7" name="TextBox 26">
            <a:extLst>
              <a:ext uri="{FF2B5EF4-FFF2-40B4-BE49-F238E27FC236}">
                <a16:creationId xmlns:a16="http://schemas.microsoft.com/office/drawing/2014/main" id="{94E570BD-770E-1801-84DC-BCDEB370E4E1}"/>
              </a:ext>
            </a:extLst>
          </p:cNvPr>
          <p:cNvSpPr txBox="1"/>
          <p:nvPr/>
        </p:nvSpPr>
        <p:spPr>
          <a:xfrm>
            <a:off x="7150100" y="40259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analyze failures</a:t>
            </a:r>
          </a:p>
        </p:txBody>
      </p:sp>
      <p:sp>
        <p:nvSpPr>
          <p:cNvPr id="28" name="TextBox 27">
            <a:extLst>
              <a:ext uri="{FF2B5EF4-FFF2-40B4-BE49-F238E27FC236}">
                <a16:creationId xmlns:a16="http://schemas.microsoft.com/office/drawing/2014/main" id="{E6BE1AD8-33D7-01F1-5E9E-07D4DFE9D051}"/>
              </a:ext>
            </a:extLst>
          </p:cNvPr>
          <p:cNvSpPr txBox="1"/>
          <p:nvPr/>
        </p:nvSpPr>
        <p:spPr>
          <a:xfrm>
            <a:off x="6756400" y="45085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9" name="TextBox 28">
            <a:extLst>
              <a:ext uri="{FF2B5EF4-FFF2-40B4-BE49-F238E27FC236}">
                <a16:creationId xmlns:a16="http://schemas.microsoft.com/office/drawing/2014/main" id="{6C1867E6-6613-1FEB-196F-A8F4492D853D}"/>
              </a:ext>
            </a:extLst>
          </p:cNvPr>
          <p:cNvSpPr txBox="1"/>
          <p:nvPr/>
        </p:nvSpPr>
        <p:spPr>
          <a:xfrm>
            <a:off x="7150100" y="45085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choose conflict-aware action</a:t>
            </a:r>
          </a:p>
        </p:txBody>
      </p:sp>
      <p:sp>
        <p:nvSpPr>
          <p:cNvPr id="30" name="TextBox 29">
            <a:extLst>
              <a:ext uri="{FF2B5EF4-FFF2-40B4-BE49-F238E27FC236}">
                <a16:creationId xmlns:a16="http://schemas.microsoft.com/office/drawing/2014/main" id="{3A63F369-CDC8-E63E-6D7A-FFF15F551580}"/>
              </a:ext>
            </a:extLst>
          </p:cNvPr>
          <p:cNvSpPr txBox="1"/>
          <p:nvPr/>
        </p:nvSpPr>
        <p:spPr>
          <a:xfrm>
            <a:off x="6756400" y="49911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31" name="TextBox 30">
            <a:extLst>
              <a:ext uri="{FF2B5EF4-FFF2-40B4-BE49-F238E27FC236}">
                <a16:creationId xmlns:a16="http://schemas.microsoft.com/office/drawing/2014/main" id="{A7EF8EF2-41ED-7C86-EE6F-42E31EAAF60D}"/>
              </a:ext>
            </a:extLst>
          </p:cNvPr>
          <p:cNvSpPr txBox="1"/>
          <p:nvPr/>
        </p:nvSpPr>
        <p:spPr>
          <a:xfrm>
            <a:off x="7150100" y="49911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review risk and correctness</a:t>
            </a:r>
          </a:p>
        </p:txBody>
      </p:sp>
      <p:sp>
        <p:nvSpPr>
          <p:cNvPr id="32" name="TextBox 31">
            <a:extLst>
              <a:ext uri="{FF2B5EF4-FFF2-40B4-BE49-F238E27FC236}">
                <a16:creationId xmlns:a16="http://schemas.microsoft.com/office/drawing/2014/main" id="{9DF6E13F-74A8-7A53-C647-87CB166CA0E1}"/>
              </a:ext>
            </a:extLst>
          </p:cNvPr>
          <p:cNvSpPr txBox="1"/>
          <p:nvPr/>
        </p:nvSpPr>
        <p:spPr>
          <a:xfrm>
            <a:off x="558800" y="5994400"/>
            <a:ext cx="11074400" cy="276999"/>
          </a:xfrm>
          <a:prstGeom prst="rect">
            <a:avLst/>
          </a:prstGeom>
          <a:noFill/>
        </p:spPr>
        <p:txBody>
          <a:bodyPr vert="horz" wrap="square" lIns="0" tIns="0" rIns="0" bIns="0" rtlCol="0" anchor="t">
            <a:noAutofit/>
          </a:bodyPr>
          <a:lstStyle/>
          <a:p>
            <a:pPr algn="ctr"/>
            <a:r>
              <a:rPr lang="en-US" b="1">
                <a:solidFill>
                  <a:srgbClr val="E25555"/>
                </a:solidFill>
                <a:latin typeface="Aptos" panose="020B0004020202020204" pitchFamily="34" charset="0"/>
              </a:rPr>
              <a:t>AI never edits the queue directly.</a:t>
            </a:r>
          </a:p>
        </p:txBody>
      </p:sp>
    </p:spTree>
    <p:extLst>
      <p:ext uri="{BB962C8B-B14F-4D97-AF65-F5344CB8AC3E}">
        <p14:creationId xmlns:p14="http://schemas.microsoft.com/office/powerpoint/2010/main" val="3526870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59483A-A194-5F15-DF95-50F974B8DE44}"/>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Preview the exact worker in one command.</a:t>
            </a:r>
          </a:p>
        </p:txBody>
      </p:sp>
      <p:sp>
        <p:nvSpPr>
          <p:cNvPr id="3" name="TextBox 2">
            <a:extLst>
              <a:ext uri="{FF2B5EF4-FFF2-40B4-BE49-F238E27FC236}">
                <a16:creationId xmlns:a16="http://schemas.microsoft.com/office/drawing/2014/main" id="{1C116EF0-6428-0A43-D1ED-525E47FE540E}"/>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6</a:t>
            </a:r>
          </a:p>
        </p:txBody>
      </p:sp>
      <p:sp>
        <p:nvSpPr>
          <p:cNvPr id="4" name="Rectangle: Rounded Corners 3">
            <a:extLst>
              <a:ext uri="{FF2B5EF4-FFF2-40B4-BE49-F238E27FC236}">
                <a16:creationId xmlns:a16="http://schemas.microsoft.com/office/drawing/2014/main" id="{BD76886E-541E-35D9-C6F6-5CDF0B9243CD}"/>
              </a:ext>
            </a:extLst>
          </p:cNvPr>
          <p:cNvSpPr/>
          <p:nvPr/>
        </p:nvSpPr>
        <p:spPr>
          <a:xfrm>
            <a:off x="558800" y="1549400"/>
            <a:ext cx="6578600" cy="40386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AFA59BB-9245-5DF7-9913-DFCF20473482}"/>
              </a:ext>
            </a:extLst>
          </p:cNvPr>
          <p:cNvSpPr txBox="1"/>
          <p:nvPr/>
        </p:nvSpPr>
        <p:spPr>
          <a:xfrm>
            <a:off x="825500" y="1816100"/>
            <a:ext cx="1524000" cy="276999"/>
          </a:xfrm>
          <a:prstGeom prst="rect">
            <a:avLst/>
          </a:prstGeom>
          <a:noFill/>
        </p:spPr>
        <p:txBody>
          <a:bodyPr vert="horz" wrap="square" lIns="0" tIns="0" rIns="0" bIns="0" rtlCol="0" anchor="t">
            <a:noAutofit/>
          </a:bodyPr>
          <a:lstStyle/>
          <a:p>
            <a:r>
              <a:rPr lang="en-US" sz="1200" b="1">
                <a:solidFill>
                  <a:srgbClr val="6DCBF4"/>
                </a:solidFill>
                <a:latin typeface="Cascadia Mono" panose="020B0609020000020004" pitchFamily="49" charset="0"/>
              </a:rPr>
              <a:t>PowerShell</a:t>
            </a:r>
          </a:p>
        </p:txBody>
      </p:sp>
      <p:sp>
        <p:nvSpPr>
          <p:cNvPr id="6" name="TextBox 5">
            <a:extLst>
              <a:ext uri="{FF2B5EF4-FFF2-40B4-BE49-F238E27FC236}">
                <a16:creationId xmlns:a16="http://schemas.microsoft.com/office/drawing/2014/main" id="{560A656A-DE7A-F16D-22DB-955494D448D5}"/>
              </a:ext>
            </a:extLst>
          </p:cNvPr>
          <p:cNvSpPr txBox="1"/>
          <p:nvPr/>
        </p:nvSpPr>
        <p:spPr>
          <a:xfrm>
            <a:off x="825500" y="2311400"/>
            <a:ext cx="5943600" cy="276999"/>
          </a:xfrm>
          <a:prstGeom prst="rect">
            <a:avLst/>
          </a:prstGeom>
          <a:noFill/>
        </p:spPr>
        <p:txBody>
          <a:bodyPr vert="horz" wrap="square" lIns="0" tIns="0" rIns="0" bIns="0" rtlCol="0" anchor="t">
            <a:noAutofit/>
          </a:bodyPr>
          <a:lstStyle/>
          <a:p>
            <a:r>
              <a:rPr lang="en-US" sz="1300">
                <a:solidFill>
                  <a:srgbClr val="6DCBF4"/>
                </a:solidFill>
                <a:latin typeface="Cascadia Mono" panose="020B0609020000020004" pitchFamily="49" charset="0"/>
              </a:rPr>
              <a:t>&gt; factory help preview</a:t>
            </a:r>
          </a:p>
        </p:txBody>
      </p:sp>
      <p:sp>
        <p:nvSpPr>
          <p:cNvPr id="7" name="TextBox 6">
            <a:extLst>
              <a:ext uri="{FF2B5EF4-FFF2-40B4-BE49-F238E27FC236}">
                <a16:creationId xmlns:a16="http://schemas.microsoft.com/office/drawing/2014/main" id="{70D99492-136A-8AF3-E40A-99ED9E180682}"/>
              </a:ext>
            </a:extLst>
          </p:cNvPr>
          <p:cNvSpPr txBox="1"/>
          <p:nvPr/>
        </p:nvSpPr>
        <p:spPr>
          <a:xfrm>
            <a:off x="825500" y="2654300"/>
            <a:ext cx="5943600" cy="276999"/>
          </a:xfrm>
          <a:prstGeom prst="rect">
            <a:avLst/>
          </a:prstGeom>
          <a:noFill/>
        </p:spPr>
        <p:txBody>
          <a:bodyPr vert="horz" wrap="square" lIns="0" tIns="0" rIns="0" bIns="0" rtlCol="0" anchor="t">
            <a:noAutofit/>
          </a:bodyPr>
          <a:lstStyle/>
          <a:p>
            <a:endParaRPr lang="en-US" sz="1300">
              <a:solidFill>
                <a:srgbClr val="FFFFFF"/>
              </a:solidFill>
              <a:latin typeface="Cascadia Mono" panose="020B0609020000020004" pitchFamily="49" charset="0"/>
            </a:endParaRPr>
          </a:p>
        </p:txBody>
      </p:sp>
      <p:sp>
        <p:nvSpPr>
          <p:cNvPr id="8" name="TextBox 7">
            <a:extLst>
              <a:ext uri="{FF2B5EF4-FFF2-40B4-BE49-F238E27FC236}">
                <a16:creationId xmlns:a16="http://schemas.microsoft.com/office/drawing/2014/main" id="{35451DA6-BC67-EE8C-009D-C1946D2E54AF}"/>
              </a:ext>
            </a:extLst>
          </p:cNvPr>
          <p:cNvSpPr txBox="1"/>
          <p:nvPr/>
        </p:nvSpPr>
        <p:spPr>
          <a:xfrm>
            <a:off x="825500" y="29972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factory preview [&lt;task-id&gt;|stop] [-NoOpen]</a:t>
            </a:r>
          </a:p>
        </p:txBody>
      </p:sp>
      <p:sp>
        <p:nvSpPr>
          <p:cNvPr id="9" name="TextBox 8">
            <a:extLst>
              <a:ext uri="{FF2B5EF4-FFF2-40B4-BE49-F238E27FC236}">
                <a16:creationId xmlns:a16="http://schemas.microsoft.com/office/drawing/2014/main" id="{8B81DDD9-6FEF-890D-D762-B690D3B01402}"/>
              </a:ext>
            </a:extLst>
          </p:cNvPr>
          <p:cNvSpPr txBox="1"/>
          <p:nvPr/>
        </p:nvSpPr>
        <p:spPr>
          <a:xfrm>
            <a:off x="825500" y="33401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Starts Laravel and Vite from one worker worktree</a:t>
            </a:r>
          </a:p>
        </p:txBody>
      </p:sp>
      <p:sp>
        <p:nvSpPr>
          <p:cNvPr id="10" name="TextBox 9">
            <a:extLst>
              <a:ext uri="{FF2B5EF4-FFF2-40B4-BE49-F238E27FC236}">
                <a16:creationId xmlns:a16="http://schemas.microsoft.com/office/drawing/2014/main" id="{D7F43AD0-C284-D119-40A1-9F0B5F4CA104}"/>
              </a:ext>
            </a:extLst>
          </p:cNvPr>
          <p:cNvSpPr txBox="1"/>
          <p:nvPr/>
        </p:nvSpPr>
        <p:spPr>
          <a:xfrm>
            <a:off x="825500" y="36830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and opens its private loopback URL.</a:t>
            </a:r>
          </a:p>
        </p:txBody>
      </p:sp>
      <p:sp>
        <p:nvSpPr>
          <p:cNvPr id="11" name="TextBox 10">
            <a:extLst>
              <a:ext uri="{FF2B5EF4-FFF2-40B4-BE49-F238E27FC236}">
                <a16:creationId xmlns:a16="http://schemas.microsoft.com/office/drawing/2014/main" id="{227299C9-E3AB-CC23-3D65-B44BD69142B1}"/>
              </a:ext>
            </a:extLst>
          </p:cNvPr>
          <p:cNvSpPr txBox="1"/>
          <p:nvPr/>
        </p:nvSpPr>
        <p:spPr>
          <a:xfrm>
            <a:off x="825500" y="4025900"/>
            <a:ext cx="5943600" cy="276999"/>
          </a:xfrm>
          <a:prstGeom prst="rect">
            <a:avLst/>
          </a:prstGeom>
          <a:noFill/>
        </p:spPr>
        <p:txBody>
          <a:bodyPr vert="horz" wrap="square" lIns="0" tIns="0" rIns="0" bIns="0" rtlCol="0" anchor="t">
            <a:noAutofit/>
          </a:bodyPr>
          <a:lstStyle/>
          <a:p>
            <a:endParaRPr lang="en-US" sz="1300">
              <a:solidFill>
                <a:srgbClr val="FFFFFF"/>
              </a:solidFill>
              <a:latin typeface="Cascadia Mono" panose="020B0609020000020004" pitchFamily="49" charset="0"/>
            </a:endParaRPr>
          </a:p>
        </p:txBody>
      </p:sp>
      <p:sp>
        <p:nvSpPr>
          <p:cNvPr id="12" name="TextBox 11">
            <a:extLst>
              <a:ext uri="{FF2B5EF4-FFF2-40B4-BE49-F238E27FC236}">
                <a16:creationId xmlns:a16="http://schemas.microsoft.com/office/drawing/2014/main" id="{93D9873C-A3B3-EB80-FE6E-2F52787B3747}"/>
              </a:ext>
            </a:extLst>
          </p:cNvPr>
          <p:cNvSpPr txBox="1"/>
          <p:nvPr/>
        </p:nvSpPr>
        <p:spPr>
          <a:xfrm>
            <a:off x="825500" y="43688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Only one preview runs per project:</a:t>
            </a:r>
          </a:p>
        </p:txBody>
      </p:sp>
      <p:sp>
        <p:nvSpPr>
          <p:cNvPr id="13" name="TextBox 12">
            <a:extLst>
              <a:ext uri="{FF2B5EF4-FFF2-40B4-BE49-F238E27FC236}">
                <a16:creationId xmlns:a16="http://schemas.microsoft.com/office/drawing/2014/main" id="{5DE3F286-1B0F-14C4-736D-E8509DAF0F0C}"/>
              </a:ext>
            </a:extLst>
          </p:cNvPr>
          <p:cNvSpPr txBox="1"/>
          <p:nvPr/>
        </p:nvSpPr>
        <p:spPr>
          <a:xfrm>
            <a:off x="825500" y="47117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starting another task stops the previous preview first.</a:t>
            </a:r>
          </a:p>
        </p:txBody>
      </p:sp>
      <p:sp>
        <p:nvSpPr>
          <p:cNvPr id="14" name="TextBox 13">
            <a:extLst>
              <a:ext uri="{FF2B5EF4-FFF2-40B4-BE49-F238E27FC236}">
                <a16:creationId xmlns:a16="http://schemas.microsoft.com/office/drawing/2014/main" id="{12B1A9AF-D037-1486-F4B2-E60D82C8F5D2}"/>
              </a:ext>
            </a:extLst>
          </p:cNvPr>
          <p:cNvSpPr txBox="1"/>
          <p:nvPr/>
        </p:nvSpPr>
        <p:spPr>
          <a:xfrm>
            <a:off x="7747000" y="1765300"/>
            <a:ext cx="3556000" cy="276999"/>
          </a:xfrm>
          <a:prstGeom prst="rect">
            <a:avLst/>
          </a:prstGeom>
          <a:noFill/>
        </p:spPr>
        <p:txBody>
          <a:bodyPr vert="horz" wrap="square" lIns="0" tIns="0" rIns="0" bIns="0" rtlCol="0" anchor="t">
            <a:noAutofit/>
          </a:bodyPr>
          <a:lstStyle/>
          <a:p>
            <a:r>
              <a:rPr lang="en-US" sz="2200" b="1">
                <a:solidFill>
                  <a:srgbClr val="0B1020"/>
                </a:solidFill>
                <a:latin typeface="Aptos" panose="020B0004020202020204" pitchFamily="34" charset="0"/>
              </a:rPr>
              <a:t>Exact worker worktree</a:t>
            </a:r>
          </a:p>
        </p:txBody>
      </p:sp>
      <p:cxnSp>
        <p:nvCxnSpPr>
          <p:cNvPr id="15" name="Straight Connector 14">
            <a:extLst>
              <a:ext uri="{FF2B5EF4-FFF2-40B4-BE49-F238E27FC236}">
                <a16:creationId xmlns:a16="http://schemas.microsoft.com/office/drawing/2014/main" id="{4EB9876F-24B5-75AD-259F-50B6C336921C}"/>
              </a:ext>
            </a:extLst>
          </p:cNvPr>
          <p:cNvCxnSpPr/>
          <p:nvPr/>
        </p:nvCxnSpPr>
        <p:spPr>
          <a:xfrm>
            <a:off x="7747000" y="2298700"/>
            <a:ext cx="3606800" cy="0"/>
          </a:xfrm>
          <a:prstGeom prst="line">
            <a:avLst/>
          </a:prstGeom>
          <a:ln w="38100">
            <a:solidFill>
              <a:srgbClr val="3D8DFF"/>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B0DC977-7C54-9C83-161A-60554FF51A81}"/>
              </a:ext>
            </a:extLst>
          </p:cNvPr>
          <p:cNvSpPr txBox="1"/>
          <p:nvPr/>
        </p:nvSpPr>
        <p:spPr>
          <a:xfrm>
            <a:off x="7747000" y="26035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Laravel</a:t>
            </a:r>
          </a:p>
        </p:txBody>
      </p:sp>
      <p:sp>
        <p:nvSpPr>
          <p:cNvPr id="17" name="TextBox 16">
            <a:extLst>
              <a:ext uri="{FF2B5EF4-FFF2-40B4-BE49-F238E27FC236}">
                <a16:creationId xmlns:a16="http://schemas.microsoft.com/office/drawing/2014/main" id="{22BB6EC7-587A-185A-9C74-03C3F2AFCB20}"/>
              </a:ext>
            </a:extLst>
          </p:cNvPr>
          <p:cNvSpPr txBox="1"/>
          <p:nvPr/>
        </p:nvSpPr>
        <p:spPr>
          <a:xfrm>
            <a:off x="9220200" y="26035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dynamic loopback app port</a:t>
            </a:r>
          </a:p>
        </p:txBody>
      </p:sp>
      <p:sp>
        <p:nvSpPr>
          <p:cNvPr id="18" name="TextBox 17">
            <a:extLst>
              <a:ext uri="{FF2B5EF4-FFF2-40B4-BE49-F238E27FC236}">
                <a16:creationId xmlns:a16="http://schemas.microsoft.com/office/drawing/2014/main" id="{4E9E03CA-13E2-09DE-DD71-ADB9D8CAE65D}"/>
              </a:ext>
            </a:extLst>
          </p:cNvPr>
          <p:cNvSpPr txBox="1"/>
          <p:nvPr/>
        </p:nvSpPr>
        <p:spPr>
          <a:xfrm>
            <a:off x="7747000" y="33528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Vite</a:t>
            </a:r>
          </a:p>
        </p:txBody>
      </p:sp>
      <p:sp>
        <p:nvSpPr>
          <p:cNvPr id="19" name="TextBox 18">
            <a:extLst>
              <a:ext uri="{FF2B5EF4-FFF2-40B4-BE49-F238E27FC236}">
                <a16:creationId xmlns:a16="http://schemas.microsoft.com/office/drawing/2014/main" id="{1FFDFD11-233E-052F-E5D2-2D8760CD1691}"/>
              </a:ext>
            </a:extLst>
          </p:cNvPr>
          <p:cNvSpPr txBox="1"/>
          <p:nvPr/>
        </p:nvSpPr>
        <p:spPr>
          <a:xfrm>
            <a:off x="9220200" y="33528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separate asset port</a:t>
            </a:r>
          </a:p>
        </p:txBody>
      </p:sp>
      <p:sp>
        <p:nvSpPr>
          <p:cNvPr id="20" name="TextBox 19">
            <a:extLst>
              <a:ext uri="{FF2B5EF4-FFF2-40B4-BE49-F238E27FC236}">
                <a16:creationId xmlns:a16="http://schemas.microsoft.com/office/drawing/2014/main" id="{7EA230E8-A86A-730C-FEEB-65BF8DABFDBD}"/>
              </a:ext>
            </a:extLst>
          </p:cNvPr>
          <p:cNvSpPr txBox="1"/>
          <p:nvPr/>
        </p:nvSpPr>
        <p:spPr>
          <a:xfrm>
            <a:off x="7747000" y="41021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Dependencies</a:t>
            </a:r>
          </a:p>
        </p:txBody>
      </p:sp>
      <p:sp>
        <p:nvSpPr>
          <p:cNvPr id="21" name="TextBox 20">
            <a:extLst>
              <a:ext uri="{FF2B5EF4-FFF2-40B4-BE49-F238E27FC236}">
                <a16:creationId xmlns:a16="http://schemas.microsoft.com/office/drawing/2014/main" id="{9AD8352A-EA8A-C9B4-5AE8-D943F83B450E}"/>
              </a:ext>
            </a:extLst>
          </p:cNvPr>
          <p:cNvSpPr txBox="1"/>
          <p:nvPr/>
        </p:nvSpPr>
        <p:spPr>
          <a:xfrm>
            <a:off x="9220200" y="41021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safe vendor/node_modules links</a:t>
            </a:r>
          </a:p>
        </p:txBody>
      </p:sp>
      <p:sp>
        <p:nvSpPr>
          <p:cNvPr id="22" name="TextBox 21">
            <a:extLst>
              <a:ext uri="{FF2B5EF4-FFF2-40B4-BE49-F238E27FC236}">
                <a16:creationId xmlns:a16="http://schemas.microsoft.com/office/drawing/2014/main" id="{D456EC10-B6DC-2645-5638-36F92BE12299}"/>
              </a:ext>
            </a:extLst>
          </p:cNvPr>
          <p:cNvSpPr txBox="1"/>
          <p:nvPr/>
        </p:nvSpPr>
        <p:spPr>
          <a:xfrm>
            <a:off x="7747000" y="48514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Switching</a:t>
            </a:r>
          </a:p>
        </p:txBody>
      </p:sp>
      <p:sp>
        <p:nvSpPr>
          <p:cNvPr id="23" name="TextBox 22">
            <a:extLst>
              <a:ext uri="{FF2B5EF4-FFF2-40B4-BE49-F238E27FC236}">
                <a16:creationId xmlns:a16="http://schemas.microsoft.com/office/drawing/2014/main" id="{6F488165-579B-002F-A46C-8C316D4A4C34}"/>
              </a:ext>
            </a:extLst>
          </p:cNvPr>
          <p:cNvSpPr txBox="1"/>
          <p:nvPr/>
        </p:nvSpPr>
        <p:spPr>
          <a:xfrm>
            <a:off x="9220200" y="48514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previous process trees stop first</a:t>
            </a:r>
          </a:p>
        </p:txBody>
      </p:sp>
      <p:sp>
        <p:nvSpPr>
          <p:cNvPr id="24" name="TextBox 23">
            <a:extLst>
              <a:ext uri="{FF2B5EF4-FFF2-40B4-BE49-F238E27FC236}">
                <a16:creationId xmlns:a16="http://schemas.microsoft.com/office/drawing/2014/main" id="{076372CE-2482-9011-10AF-37113051B23F}"/>
              </a:ext>
            </a:extLst>
          </p:cNvPr>
          <p:cNvSpPr txBox="1"/>
          <p:nvPr/>
        </p:nvSpPr>
        <p:spPr>
          <a:xfrm>
            <a:off x="558800" y="5969000"/>
            <a:ext cx="11074400" cy="276999"/>
          </a:xfrm>
          <a:prstGeom prst="rect">
            <a:avLst/>
          </a:prstGeom>
          <a:noFill/>
        </p:spPr>
        <p:txBody>
          <a:bodyPr vert="horz" wrap="square" lIns="0" tIns="0" rIns="0" bIns="0" rtlCol="0" anchor="t">
            <a:noAutofit/>
          </a:bodyPr>
          <a:lstStyle/>
          <a:p>
            <a:pPr algn="ctr"/>
            <a:r>
              <a:rPr lang="en-US" sz="1500">
                <a:solidFill>
                  <a:srgbClr val="596579"/>
                </a:solidFill>
                <a:latin typeface="Aptos" panose="020B0004020202020204" pitchFamily="34" charset="0"/>
              </a:rPr>
              <a:t>Preview uses the development environment; isolated DBs are for tests.</a:t>
            </a:r>
          </a:p>
        </p:txBody>
      </p:sp>
    </p:spTree>
    <p:extLst>
      <p:ext uri="{BB962C8B-B14F-4D97-AF65-F5344CB8AC3E}">
        <p14:creationId xmlns:p14="http://schemas.microsoft.com/office/powerpoint/2010/main" val="3624495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6FD398-8AC3-5EB8-96B3-3E41F2B2202F}"/>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Not every task needs to start in Asana.</a:t>
            </a:r>
          </a:p>
        </p:txBody>
      </p:sp>
      <p:sp>
        <p:nvSpPr>
          <p:cNvPr id="3" name="TextBox 2">
            <a:extLst>
              <a:ext uri="{FF2B5EF4-FFF2-40B4-BE49-F238E27FC236}">
                <a16:creationId xmlns:a16="http://schemas.microsoft.com/office/drawing/2014/main" id="{B238C1B9-A01B-5729-3A58-48464C9E6FDF}"/>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7</a:t>
            </a:r>
          </a:p>
        </p:txBody>
      </p:sp>
      <p:sp>
        <p:nvSpPr>
          <p:cNvPr id="4" name="TextBox 3">
            <a:extLst>
              <a:ext uri="{FF2B5EF4-FFF2-40B4-BE49-F238E27FC236}">
                <a16:creationId xmlns:a16="http://schemas.microsoft.com/office/drawing/2014/main" id="{1B9CCDB4-62FD-1456-2C26-9F1E5C633107}"/>
              </a:ext>
            </a:extLst>
          </p:cNvPr>
          <p:cNvSpPr txBox="1"/>
          <p:nvPr/>
        </p:nvSpPr>
        <p:spPr>
          <a:xfrm>
            <a:off x="558800" y="1193800"/>
            <a:ext cx="8255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A blank worker can become the intake surface.</a:t>
            </a:r>
          </a:p>
        </p:txBody>
      </p:sp>
      <p:cxnSp>
        <p:nvCxnSpPr>
          <p:cNvPr id="5" name="Straight Connector 4">
            <a:extLst>
              <a:ext uri="{FF2B5EF4-FFF2-40B4-BE49-F238E27FC236}">
                <a16:creationId xmlns:a16="http://schemas.microsoft.com/office/drawing/2014/main" id="{8C676CE9-AA13-7800-EFE5-1A833E675C02}"/>
              </a:ext>
            </a:extLst>
          </p:cNvPr>
          <p:cNvCxnSpPr/>
          <p:nvPr/>
        </p:nvCxnSpPr>
        <p:spPr>
          <a:xfrm>
            <a:off x="2895600" y="3352800"/>
            <a:ext cx="1244600" cy="0"/>
          </a:xfrm>
          <a:prstGeom prst="line">
            <a:avLst/>
          </a:prstGeom>
          <a:ln w="2540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2EFDFB3-AE70-7BA7-06D5-054E94B2C0E8}"/>
              </a:ext>
            </a:extLst>
          </p:cNvPr>
          <p:cNvCxnSpPr/>
          <p:nvPr/>
        </p:nvCxnSpPr>
        <p:spPr>
          <a:xfrm>
            <a:off x="6578600" y="3352800"/>
            <a:ext cx="1244600" cy="0"/>
          </a:xfrm>
          <a:prstGeom prst="line">
            <a:avLst/>
          </a:prstGeom>
          <a:ln w="25400">
            <a:solidFill>
              <a:srgbClr val="BCC7D6"/>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C709EDA1-DED2-5844-EE6E-523A8BFA917F}"/>
              </a:ext>
            </a:extLst>
          </p:cNvPr>
          <p:cNvSpPr/>
          <p:nvPr/>
        </p:nvSpPr>
        <p:spPr>
          <a:xfrm>
            <a:off x="609600" y="2222500"/>
            <a:ext cx="3556000" cy="2311400"/>
          </a:xfrm>
          <a:prstGeom prst="roundRect">
            <a:avLst/>
          </a:prstGeom>
          <a:solidFill>
            <a:srgbClr val="DDF6EC"/>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D1379E0-E296-26F6-8261-3324728096CF}"/>
              </a:ext>
            </a:extLst>
          </p:cNvPr>
          <p:cNvSpPr txBox="1"/>
          <p:nvPr/>
        </p:nvSpPr>
        <p:spPr>
          <a:xfrm>
            <a:off x="863600" y="2463800"/>
            <a:ext cx="508000" cy="276999"/>
          </a:xfrm>
          <a:prstGeom prst="rect">
            <a:avLst/>
          </a:prstGeom>
          <a:noFill/>
        </p:spPr>
        <p:txBody>
          <a:bodyPr vert="horz" wrap="square" lIns="0" tIns="0" rIns="0" bIns="0" rtlCol="0" anchor="t">
            <a:noAutofit/>
          </a:bodyPr>
          <a:lstStyle/>
          <a:p>
            <a:r>
              <a:rPr lang="en-US" sz="1400" b="1">
                <a:solidFill>
                  <a:srgbClr val="596579"/>
                </a:solidFill>
                <a:latin typeface="Cascadia Mono" panose="020B0609020000020004" pitchFamily="49" charset="0"/>
              </a:rPr>
              <a:t>01</a:t>
            </a:r>
          </a:p>
        </p:txBody>
      </p:sp>
      <p:sp>
        <p:nvSpPr>
          <p:cNvPr id="9" name="TextBox 8">
            <a:extLst>
              <a:ext uri="{FF2B5EF4-FFF2-40B4-BE49-F238E27FC236}">
                <a16:creationId xmlns:a16="http://schemas.microsoft.com/office/drawing/2014/main" id="{6E04FB14-FD5C-9E80-8513-0E43E21469A2}"/>
              </a:ext>
            </a:extLst>
          </p:cNvPr>
          <p:cNvSpPr txBox="1"/>
          <p:nvPr/>
        </p:nvSpPr>
        <p:spPr>
          <a:xfrm>
            <a:off x="863600" y="3009900"/>
            <a:ext cx="3048000" cy="276999"/>
          </a:xfrm>
          <a:prstGeom prst="rect">
            <a:avLst/>
          </a:prstGeom>
          <a:noFill/>
        </p:spPr>
        <p:txBody>
          <a:bodyPr vert="horz" wrap="square" lIns="0" tIns="0" rIns="0" bIns="0" rtlCol="0" anchor="t">
            <a:noAutofit/>
          </a:bodyPr>
          <a:lstStyle/>
          <a:p>
            <a:r>
              <a:rPr lang="en-US" sz="1500" b="1">
                <a:solidFill>
                  <a:srgbClr val="0B1020"/>
                </a:solidFill>
                <a:latin typeface="Cascadia Mono" panose="020B0609020000020004" pitchFamily="49" charset="0"/>
              </a:rPr>
              <a:t>factory new</a:t>
            </a:r>
          </a:p>
        </p:txBody>
      </p:sp>
      <p:sp>
        <p:nvSpPr>
          <p:cNvPr id="10" name="TextBox 9">
            <a:extLst>
              <a:ext uri="{FF2B5EF4-FFF2-40B4-BE49-F238E27FC236}">
                <a16:creationId xmlns:a16="http://schemas.microsoft.com/office/drawing/2014/main" id="{5CDD30AC-788D-56F5-6B0B-214B41BA1F4D}"/>
              </a:ext>
            </a:extLst>
          </p:cNvPr>
          <p:cNvSpPr txBox="1"/>
          <p:nvPr/>
        </p:nvSpPr>
        <p:spPr>
          <a:xfrm>
            <a:off x="863600" y="3670300"/>
            <a:ext cx="29972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Create a blank interactive task</a:t>
            </a:r>
          </a:p>
        </p:txBody>
      </p:sp>
      <p:sp>
        <p:nvSpPr>
          <p:cNvPr id="11" name="Rectangle: Rounded Corners 10">
            <a:extLst>
              <a:ext uri="{FF2B5EF4-FFF2-40B4-BE49-F238E27FC236}">
                <a16:creationId xmlns:a16="http://schemas.microsoft.com/office/drawing/2014/main" id="{6B78D7C2-078B-A458-10C0-884CC6C57AA9}"/>
              </a:ext>
            </a:extLst>
          </p:cNvPr>
          <p:cNvSpPr/>
          <p:nvPr/>
        </p:nvSpPr>
        <p:spPr>
          <a:xfrm>
            <a:off x="4292600" y="2222500"/>
            <a:ext cx="3556000" cy="2311400"/>
          </a:xfrm>
          <a:prstGeom prst="roundRect">
            <a:avLst/>
          </a:prstGeom>
          <a:solidFill>
            <a:srgbClr val="D8E9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21C8F54-1A4F-67AB-B68B-7BC561145C78}"/>
              </a:ext>
            </a:extLst>
          </p:cNvPr>
          <p:cNvSpPr txBox="1"/>
          <p:nvPr/>
        </p:nvSpPr>
        <p:spPr>
          <a:xfrm>
            <a:off x="4546600" y="2463800"/>
            <a:ext cx="508000" cy="276999"/>
          </a:xfrm>
          <a:prstGeom prst="rect">
            <a:avLst/>
          </a:prstGeom>
          <a:noFill/>
        </p:spPr>
        <p:txBody>
          <a:bodyPr vert="horz" wrap="square" lIns="0" tIns="0" rIns="0" bIns="0" rtlCol="0" anchor="t">
            <a:noAutofit/>
          </a:bodyPr>
          <a:lstStyle/>
          <a:p>
            <a:r>
              <a:rPr lang="en-US" sz="1400" b="1">
                <a:solidFill>
                  <a:srgbClr val="596579"/>
                </a:solidFill>
                <a:latin typeface="Cascadia Mono" panose="020B0609020000020004" pitchFamily="49" charset="0"/>
              </a:rPr>
              <a:t>02</a:t>
            </a:r>
          </a:p>
        </p:txBody>
      </p:sp>
      <p:sp>
        <p:nvSpPr>
          <p:cNvPr id="13" name="TextBox 12">
            <a:extLst>
              <a:ext uri="{FF2B5EF4-FFF2-40B4-BE49-F238E27FC236}">
                <a16:creationId xmlns:a16="http://schemas.microsoft.com/office/drawing/2014/main" id="{029E9A25-81D3-C101-FF3C-202844E538E3}"/>
              </a:ext>
            </a:extLst>
          </p:cNvPr>
          <p:cNvSpPr txBox="1"/>
          <p:nvPr/>
        </p:nvSpPr>
        <p:spPr>
          <a:xfrm>
            <a:off x="4546600" y="3009900"/>
            <a:ext cx="3048000" cy="276999"/>
          </a:xfrm>
          <a:prstGeom prst="rect">
            <a:avLst/>
          </a:prstGeom>
          <a:noFill/>
        </p:spPr>
        <p:txBody>
          <a:bodyPr vert="horz" wrap="square" lIns="0" tIns="0" rIns="0" bIns="0" rtlCol="0" anchor="t">
            <a:noAutofit/>
          </a:bodyPr>
          <a:lstStyle/>
          <a:p>
            <a:r>
              <a:rPr lang="en-US" sz="1500" b="1">
                <a:solidFill>
                  <a:srgbClr val="0B1020"/>
                </a:solidFill>
                <a:latin typeface="Cascadia Mono" panose="020B0609020000020004" pitchFamily="49" charset="0"/>
              </a:rPr>
              <a:t>factory chat local:…</a:t>
            </a:r>
          </a:p>
        </p:txBody>
      </p:sp>
      <p:sp>
        <p:nvSpPr>
          <p:cNvPr id="14" name="TextBox 13">
            <a:extLst>
              <a:ext uri="{FF2B5EF4-FFF2-40B4-BE49-F238E27FC236}">
                <a16:creationId xmlns:a16="http://schemas.microsoft.com/office/drawing/2014/main" id="{3F35F0DE-D46F-08C3-5EEE-ED892A85248B}"/>
              </a:ext>
            </a:extLst>
          </p:cNvPr>
          <p:cNvSpPr txBox="1"/>
          <p:nvPr/>
        </p:nvSpPr>
        <p:spPr>
          <a:xfrm>
            <a:off x="4546600" y="3670300"/>
            <a:ext cx="29972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Open the worker conversation</a:t>
            </a:r>
          </a:p>
        </p:txBody>
      </p:sp>
      <p:sp>
        <p:nvSpPr>
          <p:cNvPr id="15" name="Rectangle: Rounded Corners 14">
            <a:extLst>
              <a:ext uri="{FF2B5EF4-FFF2-40B4-BE49-F238E27FC236}">
                <a16:creationId xmlns:a16="http://schemas.microsoft.com/office/drawing/2014/main" id="{7787C85A-B630-3AA9-F886-A1E6E0A7769F}"/>
              </a:ext>
            </a:extLst>
          </p:cNvPr>
          <p:cNvSpPr/>
          <p:nvPr/>
        </p:nvSpPr>
        <p:spPr>
          <a:xfrm>
            <a:off x="7975600" y="2222500"/>
            <a:ext cx="3556000" cy="2311400"/>
          </a:xfrm>
          <a:prstGeom prst="roundRect">
            <a:avLst/>
          </a:prstGeom>
          <a:solidFill>
            <a:srgbClr val="FFF0CE"/>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A6FED61-0257-0222-7656-FEA2614CE966}"/>
              </a:ext>
            </a:extLst>
          </p:cNvPr>
          <p:cNvSpPr txBox="1"/>
          <p:nvPr/>
        </p:nvSpPr>
        <p:spPr>
          <a:xfrm>
            <a:off x="8229600" y="2463800"/>
            <a:ext cx="508000" cy="276999"/>
          </a:xfrm>
          <a:prstGeom prst="rect">
            <a:avLst/>
          </a:prstGeom>
          <a:noFill/>
        </p:spPr>
        <p:txBody>
          <a:bodyPr vert="horz" wrap="square" lIns="0" tIns="0" rIns="0" bIns="0" rtlCol="0" anchor="t">
            <a:noAutofit/>
          </a:bodyPr>
          <a:lstStyle/>
          <a:p>
            <a:r>
              <a:rPr lang="en-US" sz="1400" b="1">
                <a:solidFill>
                  <a:srgbClr val="596579"/>
                </a:solidFill>
                <a:latin typeface="Cascadia Mono" panose="020B0609020000020004" pitchFamily="49" charset="0"/>
              </a:rPr>
              <a:t>03</a:t>
            </a:r>
          </a:p>
        </p:txBody>
      </p:sp>
      <p:sp>
        <p:nvSpPr>
          <p:cNvPr id="17" name="TextBox 16">
            <a:extLst>
              <a:ext uri="{FF2B5EF4-FFF2-40B4-BE49-F238E27FC236}">
                <a16:creationId xmlns:a16="http://schemas.microsoft.com/office/drawing/2014/main" id="{D8891378-7703-5A96-05CB-298C62CDF73B}"/>
              </a:ext>
            </a:extLst>
          </p:cNvPr>
          <p:cNvSpPr txBox="1"/>
          <p:nvPr/>
        </p:nvSpPr>
        <p:spPr>
          <a:xfrm>
            <a:off x="8229600" y="3009900"/>
            <a:ext cx="3048000" cy="276999"/>
          </a:xfrm>
          <a:prstGeom prst="rect">
            <a:avLst/>
          </a:prstGeom>
          <a:noFill/>
        </p:spPr>
        <p:txBody>
          <a:bodyPr vert="horz" wrap="square" lIns="0" tIns="0" rIns="0" bIns="0" rtlCol="0" anchor="t">
            <a:noAutofit/>
          </a:bodyPr>
          <a:lstStyle/>
          <a:p>
            <a:r>
              <a:rPr lang="en-US" sz="1500" b="1">
                <a:solidFill>
                  <a:srgbClr val="0B1020"/>
                </a:solidFill>
                <a:latin typeface="Cascadia Mono" panose="020B0609020000020004" pitchFamily="49" charset="0"/>
              </a:rPr>
              <a:t>github.com/…/issues/123</a:t>
            </a:r>
          </a:p>
        </p:txBody>
      </p:sp>
      <p:sp>
        <p:nvSpPr>
          <p:cNvPr id="18" name="TextBox 17">
            <a:extLst>
              <a:ext uri="{FF2B5EF4-FFF2-40B4-BE49-F238E27FC236}">
                <a16:creationId xmlns:a16="http://schemas.microsoft.com/office/drawing/2014/main" id="{50A1CAF6-BD42-EF96-53E2-AE5FBD46F4EA}"/>
              </a:ext>
            </a:extLst>
          </p:cNvPr>
          <p:cNvSpPr txBox="1"/>
          <p:nvPr/>
        </p:nvSpPr>
        <p:spPr>
          <a:xfrm>
            <a:off x="8229600" y="3670300"/>
            <a:ext cx="29972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Paste the issue and refine the plan</a:t>
            </a:r>
          </a:p>
        </p:txBody>
      </p:sp>
      <p:sp>
        <p:nvSpPr>
          <p:cNvPr id="19" name="Rectangle: Rounded Corners 18">
            <a:extLst>
              <a:ext uri="{FF2B5EF4-FFF2-40B4-BE49-F238E27FC236}">
                <a16:creationId xmlns:a16="http://schemas.microsoft.com/office/drawing/2014/main" id="{98D71FD3-9DA7-9E71-24F6-BF76CFF36A92}"/>
              </a:ext>
            </a:extLst>
          </p:cNvPr>
          <p:cNvSpPr/>
          <p:nvPr/>
        </p:nvSpPr>
        <p:spPr>
          <a:xfrm>
            <a:off x="609600" y="5054600"/>
            <a:ext cx="10922000" cy="9398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9D5C05C-4E65-7882-FAF0-52C7AF389910}"/>
              </a:ext>
            </a:extLst>
          </p:cNvPr>
          <p:cNvSpPr txBox="1"/>
          <p:nvPr/>
        </p:nvSpPr>
        <p:spPr>
          <a:xfrm>
            <a:off x="889000" y="5346700"/>
            <a:ext cx="787400" cy="276999"/>
          </a:xfrm>
          <a:prstGeom prst="rect">
            <a:avLst/>
          </a:prstGeom>
          <a:noFill/>
        </p:spPr>
        <p:txBody>
          <a:bodyPr vert="horz" wrap="square" lIns="0" tIns="0" rIns="0" bIns="0" rtlCol="0" anchor="t">
            <a:noAutofit/>
          </a:bodyPr>
          <a:lstStyle/>
          <a:p>
            <a:r>
              <a:rPr lang="en-US" sz="1400" b="1">
                <a:solidFill>
                  <a:srgbClr val="596579"/>
                </a:solidFill>
                <a:latin typeface="Aptos" panose="020B0004020202020204" pitchFamily="34" charset="0"/>
              </a:rPr>
              <a:t>Also:</a:t>
            </a:r>
          </a:p>
        </p:txBody>
      </p:sp>
      <p:sp>
        <p:nvSpPr>
          <p:cNvPr id="21" name="TextBox 20">
            <a:extLst>
              <a:ext uri="{FF2B5EF4-FFF2-40B4-BE49-F238E27FC236}">
                <a16:creationId xmlns:a16="http://schemas.microsoft.com/office/drawing/2014/main" id="{9E0D2064-9B7D-EE9E-AE2C-09BD067F5232}"/>
              </a:ext>
            </a:extLst>
          </p:cNvPr>
          <p:cNvSpPr txBox="1"/>
          <p:nvPr/>
        </p:nvSpPr>
        <p:spPr>
          <a:xfrm>
            <a:off x="1816100" y="5346700"/>
            <a:ext cx="2286000" cy="276999"/>
          </a:xfrm>
          <a:prstGeom prst="rect">
            <a:avLst/>
          </a:prstGeom>
          <a:noFill/>
        </p:spPr>
        <p:txBody>
          <a:bodyPr vert="horz" wrap="square" lIns="0" tIns="0" rIns="0" bIns="0" rtlCol="0" anchor="t">
            <a:noAutofit/>
          </a:bodyPr>
          <a:lstStyle/>
          <a:p>
            <a:r>
              <a:rPr lang="en-US" sz="1400" b="1">
                <a:solidFill>
                  <a:srgbClr val="0B1020"/>
                </a:solidFill>
                <a:latin typeface="Cascadia Mono" panose="020B0609020000020004" pitchFamily="49" charset="0"/>
              </a:rPr>
              <a:t>factory new "task"</a:t>
            </a:r>
          </a:p>
        </p:txBody>
      </p:sp>
      <p:sp>
        <p:nvSpPr>
          <p:cNvPr id="22" name="TextBox 21">
            <a:extLst>
              <a:ext uri="{FF2B5EF4-FFF2-40B4-BE49-F238E27FC236}">
                <a16:creationId xmlns:a16="http://schemas.microsoft.com/office/drawing/2014/main" id="{A5E7F9CD-57F6-D8E5-6A8A-95C14E266E57}"/>
              </a:ext>
            </a:extLst>
          </p:cNvPr>
          <p:cNvSpPr txBox="1"/>
          <p:nvPr/>
        </p:nvSpPr>
        <p:spPr>
          <a:xfrm>
            <a:off x="4165600" y="5346700"/>
            <a:ext cx="254000" cy="276999"/>
          </a:xfrm>
          <a:prstGeom prst="rect">
            <a:avLst/>
          </a:prstGeom>
          <a:noFill/>
        </p:spPr>
        <p:txBody>
          <a:bodyPr vert="horz" wrap="square" lIns="0" tIns="0" rIns="0" bIns="0" rtlCol="0" anchor="t">
            <a:noAutofit/>
          </a:bodyPr>
          <a:lstStyle/>
          <a:p>
            <a:pPr algn="ctr"/>
            <a:r>
              <a:rPr lang="en-US" sz="1600" b="1">
                <a:solidFill>
                  <a:srgbClr val="BCC7D6"/>
                </a:solidFill>
                <a:latin typeface="Aptos" panose="020B0004020202020204" pitchFamily="34" charset="0"/>
              </a:rPr>
              <a:t>·</a:t>
            </a:r>
          </a:p>
        </p:txBody>
      </p:sp>
      <p:sp>
        <p:nvSpPr>
          <p:cNvPr id="23" name="TextBox 22">
            <a:extLst>
              <a:ext uri="{FF2B5EF4-FFF2-40B4-BE49-F238E27FC236}">
                <a16:creationId xmlns:a16="http://schemas.microsoft.com/office/drawing/2014/main" id="{F7685701-51CC-63E6-97A0-AFA9A8A1DE13}"/>
              </a:ext>
            </a:extLst>
          </p:cNvPr>
          <p:cNvSpPr txBox="1"/>
          <p:nvPr/>
        </p:nvSpPr>
        <p:spPr>
          <a:xfrm>
            <a:off x="4521200" y="5346700"/>
            <a:ext cx="2921000" cy="276999"/>
          </a:xfrm>
          <a:prstGeom prst="rect">
            <a:avLst/>
          </a:prstGeom>
          <a:noFill/>
        </p:spPr>
        <p:txBody>
          <a:bodyPr vert="horz" wrap="square" lIns="0" tIns="0" rIns="0" bIns="0" rtlCol="0" anchor="t">
            <a:noAutofit/>
          </a:bodyPr>
          <a:lstStyle/>
          <a:p>
            <a:r>
              <a:rPr lang="en-US" sz="1400" b="1">
                <a:solidFill>
                  <a:srgbClr val="0B1020"/>
                </a:solidFill>
                <a:latin typeface="Cascadia Mono" panose="020B0609020000020004" pitchFamily="49" charset="0"/>
              </a:rPr>
              <a:t>factory new --auto "task"</a:t>
            </a:r>
          </a:p>
        </p:txBody>
      </p:sp>
      <p:sp>
        <p:nvSpPr>
          <p:cNvPr id="24" name="TextBox 23">
            <a:extLst>
              <a:ext uri="{FF2B5EF4-FFF2-40B4-BE49-F238E27FC236}">
                <a16:creationId xmlns:a16="http://schemas.microsoft.com/office/drawing/2014/main" id="{A40305A1-4EA0-62D7-8CF7-055A3A31B8F4}"/>
              </a:ext>
            </a:extLst>
          </p:cNvPr>
          <p:cNvSpPr txBox="1"/>
          <p:nvPr/>
        </p:nvSpPr>
        <p:spPr>
          <a:xfrm>
            <a:off x="7493000" y="5346700"/>
            <a:ext cx="254000" cy="276999"/>
          </a:xfrm>
          <a:prstGeom prst="rect">
            <a:avLst/>
          </a:prstGeom>
          <a:noFill/>
        </p:spPr>
        <p:txBody>
          <a:bodyPr vert="horz" wrap="square" lIns="0" tIns="0" rIns="0" bIns="0" rtlCol="0" anchor="t">
            <a:noAutofit/>
          </a:bodyPr>
          <a:lstStyle/>
          <a:p>
            <a:pPr algn="ctr"/>
            <a:r>
              <a:rPr lang="en-US" sz="1600" b="1">
                <a:solidFill>
                  <a:srgbClr val="BCC7D6"/>
                </a:solidFill>
                <a:latin typeface="Aptos" panose="020B0004020202020204" pitchFamily="34" charset="0"/>
              </a:rPr>
              <a:t>·</a:t>
            </a:r>
          </a:p>
        </p:txBody>
      </p:sp>
      <p:sp>
        <p:nvSpPr>
          <p:cNvPr id="25" name="TextBox 24">
            <a:extLst>
              <a:ext uri="{FF2B5EF4-FFF2-40B4-BE49-F238E27FC236}">
                <a16:creationId xmlns:a16="http://schemas.microsoft.com/office/drawing/2014/main" id="{CFB0733C-7600-F1A3-AAEF-EED3649E2C52}"/>
              </a:ext>
            </a:extLst>
          </p:cNvPr>
          <p:cNvSpPr txBox="1"/>
          <p:nvPr/>
        </p:nvSpPr>
        <p:spPr>
          <a:xfrm>
            <a:off x="7874000" y="5346700"/>
            <a:ext cx="3251200" cy="276999"/>
          </a:xfrm>
          <a:prstGeom prst="rect">
            <a:avLst/>
          </a:prstGeom>
          <a:noFill/>
        </p:spPr>
        <p:txBody>
          <a:bodyPr vert="horz" wrap="square" lIns="0" tIns="0" rIns="0" bIns="0" rtlCol="0" anchor="t">
            <a:noAutofit/>
          </a:bodyPr>
          <a:lstStyle/>
          <a:p>
            <a:r>
              <a:rPr lang="en-US" sz="1400" b="1">
                <a:solidFill>
                  <a:srgbClr val="0B1020"/>
                </a:solidFill>
                <a:latin typeface="Cascadia Mono" panose="020B0609020000020004" pitchFamily="49" charset="0"/>
              </a:rPr>
              <a:t>factory add --file task.json</a:t>
            </a:r>
          </a:p>
        </p:txBody>
      </p:sp>
      <p:sp>
        <p:nvSpPr>
          <p:cNvPr id="26" name="TextBox 25">
            <a:extLst>
              <a:ext uri="{FF2B5EF4-FFF2-40B4-BE49-F238E27FC236}">
                <a16:creationId xmlns:a16="http://schemas.microsoft.com/office/drawing/2014/main" id="{281D9463-D9F2-640D-8475-83B2278A6357}"/>
              </a:ext>
            </a:extLst>
          </p:cNvPr>
          <p:cNvSpPr txBox="1"/>
          <p:nvPr/>
        </p:nvSpPr>
        <p:spPr>
          <a:xfrm>
            <a:off x="609600" y="6248400"/>
            <a:ext cx="10922000" cy="276999"/>
          </a:xfrm>
          <a:prstGeom prst="rect">
            <a:avLst/>
          </a:prstGeom>
          <a:noFill/>
        </p:spPr>
        <p:txBody>
          <a:bodyPr vert="horz" wrap="square" lIns="0" tIns="0" rIns="0" bIns="0" rtlCol="0" anchor="t">
            <a:noAutofit/>
          </a:bodyPr>
          <a:lstStyle/>
          <a:p>
            <a:pPr algn="ctr"/>
            <a:r>
              <a:rPr lang="en-US" sz="1300">
                <a:solidFill>
                  <a:srgbClr val="596579"/>
                </a:solidFill>
                <a:latin typeface="Aptos" panose="020B0004020202020204" pitchFamily="34" charset="0"/>
              </a:rPr>
              <a:t>GitHub is conversational input here — not a dedicated intake adapter.</a:t>
            </a:r>
          </a:p>
        </p:txBody>
      </p:sp>
    </p:spTree>
    <p:extLst>
      <p:ext uri="{BB962C8B-B14F-4D97-AF65-F5344CB8AC3E}">
        <p14:creationId xmlns:p14="http://schemas.microsoft.com/office/powerpoint/2010/main" val="14856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F8DB22-AC3D-3F60-0170-EF97B337B317}"/>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Claude orchestrates. Claude or Codex execute.</a:t>
            </a:r>
          </a:p>
        </p:txBody>
      </p:sp>
      <p:sp>
        <p:nvSpPr>
          <p:cNvPr id="3" name="TextBox 2">
            <a:extLst>
              <a:ext uri="{FF2B5EF4-FFF2-40B4-BE49-F238E27FC236}">
                <a16:creationId xmlns:a16="http://schemas.microsoft.com/office/drawing/2014/main" id="{6C94886A-1C3E-E218-3B0B-B98C5077AA66}"/>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8</a:t>
            </a:r>
          </a:p>
        </p:txBody>
      </p:sp>
      <p:cxnSp>
        <p:nvCxnSpPr>
          <p:cNvPr id="4" name="Straight Connector 3">
            <a:extLst>
              <a:ext uri="{FF2B5EF4-FFF2-40B4-BE49-F238E27FC236}">
                <a16:creationId xmlns:a16="http://schemas.microsoft.com/office/drawing/2014/main" id="{397CD630-C0E3-17A3-6E5C-96B3ABA0B0DC}"/>
              </a:ext>
            </a:extLst>
          </p:cNvPr>
          <p:cNvCxnSpPr/>
          <p:nvPr/>
        </p:nvCxnSpPr>
        <p:spPr>
          <a:xfrm flipH="1">
            <a:off x="3048000" y="2463800"/>
            <a:ext cx="3048000" cy="10668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3870523-88E0-299A-DA8E-033FFCC0A358}"/>
              </a:ext>
            </a:extLst>
          </p:cNvPr>
          <p:cNvCxnSpPr/>
          <p:nvPr/>
        </p:nvCxnSpPr>
        <p:spPr>
          <a:xfrm flipH="1">
            <a:off x="6019800" y="2463800"/>
            <a:ext cx="76200" cy="10668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7365E6A-B6C2-4E88-D365-751C84903E15}"/>
              </a:ext>
            </a:extLst>
          </p:cNvPr>
          <p:cNvCxnSpPr/>
          <p:nvPr/>
        </p:nvCxnSpPr>
        <p:spPr>
          <a:xfrm>
            <a:off x="6096000" y="2463800"/>
            <a:ext cx="2895600" cy="10668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CA166CB1-D6B2-B185-B96D-F45A14B568CC}"/>
              </a:ext>
            </a:extLst>
          </p:cNvPr>
          <p:cNvSpPr/>
          <p:nvPr/>
        </p:nvSpPr>
        <p:spPr>
          <a:xfrm>
            <a:off x="3886200" y="1485900"/>
            <a:ext cx="4419600" cy="9906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1B18BFA-C1E5-61D7-8EDC-D75ED7E406EC}"/>
              </a:ext>
            </a:extLst>
          </p:cNvPr>
          <p:cNvSpPr txBox="1"/>
          <p:nvPr/>
        </p:nvSpPr>
        <p:spPr>
          <a:xfrm>
            <a:off x="4191000" y="1739900"/>
            <a:ext cx="3810000" cy="276999"/>
          </a:xfrm>
          <a:prstGeom prst="rect">
            <a:avLst/>
          </a:prstGeom>
          <a:noFill/>
        </p:spPr>
        <p:txBody>
          <a:bodyPr vert="horz" wrap="square" lIns="0" tIns="0" rIns="0" bIns="0" rtlCol="0" anchor="ctr">
            <a:noAutofit/>
          </a:bodyPr>
          <a:lstStyle/>
          <a:p>
            <a:pPr algn="ctr"/>
            <a:r>
              <a:rPr lang="en-US" sz="2300" b="1">
                <a:solidFill>
                  <a:srgbClr val="FFFFFF"/>
                </a:solidFill>
                <a:latin typeface="Aptos" panose="020B0004020202020204" pitchFamily="34" charset="0"/>
              </a:rPr>
              <a:t>Claude Factory Orchestrator</a:t>
            </a:r>
          </a:p>
        </p:txBody>
      </p:sp>
      <p:sp>
        <p:nvSpPr>
          <p:cNvPr id="9" name="TextBox 8">
            <a:extLst>
              <a:ext uri="{FF2B5EF4-FFF2-40B4-BE49-F238E27FC236}">
                <a16:creationId xmlns:a16="http://schemas.microsoft.com/office/drawing/2014/main" id="{0A4A7346-053D-2D65-2111-4D45CB61EE46}"/>
              </a:ext>
            </a:extLst>
          </p:cNvPr>
          <p:cNvSpPr txBox="1"/>
          <p:nvPr/>
        </p:nvSpPr>
        <p:spPr>
          <a:xfrm>
            <a:off x="4191000" y="2146300"/>
            <a:ext cx="3810000" cy="276999"/>
          </a:xfrm>
          <a:prstGeom prst="rect">
            <a:avLst/>
          </a:prstGeom>
          <a:noFill/>
        </p:spPr>
        <p:txBody>
          <a:bodyPr vert="horz" wrap="square" lIns="0" tIns="0" rIns="0" bIns="0" rtlCol="0" anchor="t">
            <a:noAutofit/>
          </a:bodyPr>
          <a:lstStyle/>
          <a:p>
            <a:pPr algn="ctr"/>
            <a:r>
              <a:rPr lang="en-US" sz="1100">
                <a:solidFill>
                  <a:srgbClr val="6DCBF4"/>
                </a:solidFill>
                <a:latin typeface="Cascadia Mono" panose="020B0609020000020004" pitchFamily="49" charset="0"/>
              </a:rPr>
              <a:t>queue · decisions · review</a:t>
            </a:r>
          </a:p>
        </p:txBody>
      </p:sp>
      <p:sp>
        <p:nvSpPr>
          <p:cNvPr id="10" name="Rectangle: Rounded Corners 9">
            <a:extLst>
              <a:ext uri="{FF2B5EF4-FFF2-40B4-BE49-F238E27FC236}">
                <a16:creationId xmlns:a16="http://schemas.microsoft.com/office/drawing/2014/main" id="{C3D0D373-5B12-4C65-9174-491A1D6D2F35}"/>
              </a:ext>
            </a:extLst>
          </p:cNvPr>
          <p:cNvSpPr/>
          <p:nvPr/>
        </p:nvSpPr>
        <p:spPr>
          <a:xfrm>
            <a:off x="1600200" y="3530600"/>
            <a:ext cx="2895600" cy="1524000"/>
          </a:xfrm>
          <a:prstGeom prst="roundRect">
            <a:avLst/>
          </a:prstGeom>
          <a:solidFill>
            <a:srgbClr val="D8E9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9B7067E-38CA-A398-CFF4-24C1656A6292}"/>
              </a:ext>
            </a:extLst>
          </p:cNvPr>
          <p:cNvSpPr txBox="1"/>
          <p:nvPr/>
        </p:nvSpPr>
        <p:spPr>
          <a:xfrm>
            <a:off x="1854200" y="3784600"/>
            <a:ext cx="2387600" cy="276999"/>
          </a:xfrm>
          <a:prstGeom prst="rect">
            <a:avLst/>
          </a:prstGeom>
          <a:noFill/>
        </p:spPr>
        <p:txBody>
          <a:bodyPr vert="horz" wrap="square" lIns="0" tIns="0" rIns="0" bIns="0" rtlCol="0" anchor="t">
            <a:noAutofit/>
          </a:bodyPr>
          <a:lstStyle/>
          <a:p>
            <a:pPr algn="ctr"/>
            <a:r>
              <a:rPr lang="en-US" sz="2400" b="1">
                <a:solidFill>
                  <a:srgbClr val="0B1020"/>
                </a:solidFill>
                <a:latin typeface="Aptos" panose="020B0004020202020204" pitchFamily="34" charset="0"/>
              </a:rPr>
              <a:t>CLAUDE</a:t>
            </a:r>
          </a:p>
        </p:txBody>
      </p:sp>
      <p:sp>
        <p:nvSpPr>
          <p:cNvPr id="12" name="TextBox 11">
            <a:extLst>
              <a:ext uri="{FF2B5EF4-FFF2-40B4-BE49-F238E27FC236}">
                <a16:creationId xmlns:a16="http://schemas.microsoft.com/office/drawing/2014/main" id="{A7EDFD6C-8C8F-2A78-5EE7-85205CFB4947}"/>
              </a:ext>
            </a:extLst>
          </p:cNvPr>
          <p:cNvSpPr txBox="1"/>
          <p:nvPr/>
        </p:nvSpPr>
        <p:spPr>
          <a:xfrm>
            <a:off x="1854200" y="4292600"/>
            <a:ext cx="2387600" cy="276999"/>
          </a:xfrm>
          <a:prstGeom prst="rect">
            <a:avLst/>
          </a:prstGeom>
          <a:noFill/>
        </p:spPr>
        <p:txBody>
          <a:bodyPr vert="horz" wrap="square" lIns="0" tIns="0" rIns="0" bIns="0" rtlCol="0" anchor="t">
            <a:noAutofit/>
          </a:bodyPr>
          <a:lstStyle/>
          <a:p>
            <a:pPr algn="ctr"/>
            <a:r>
              <a:rPr lang="en-US" sz="1400">
                <a:solidFill>
                  <a:srgbClr val="596579"/>
                </a:solidFill>
                <a:latin typeface="Cascadia Mono" panose="020B0609020000020004" pitchFamily="49" charset="0"/>
              </a:rPr>
              <a:t>Agent View session</a:t>
            </a:r>
          </a:p>
        </p:txBody>
      </p:sp>
      <p:sp>
        <p:nvSpPr>
          <p:cNvPr id="13" name="TextBox 12">
            <a:extLst>
              <a:ext uri="{FF2B5EF4-FFF2-40B4-BE49-F238E27FC236}">
                <a16:creationId xmlns:a16="http://schemas.microsoft.com/office/drawing/2014/main" id="{9233EE88-BF07-06AC-9C4F-C5AC89B3999E}"/>
              </a:ext>
            </a:extLst>
          </p:cNvPr>
          <p:cNvSpPr txBox="1"/>
          <p:nvPr/>
        </p:nvSpPr>
        <p:spPr>
          <a:xfrm>
            <a:off x="1854200" y="4699000"/>
            <a:ext cx="2387600" cy="276999"/>
          </a:xfrm>
          <a:prstGeom prst="rect">
            <a:avLst/>
          </a:prstGeom>
          <a:noFill/>
        </p:spPr>
        <p:txBody>
          <a:bodyPr vert="horz" wrap="square" lIns="0" tIns="0" rIns="0" bIns="0" rtlCol="0" anchor="t">
            <a:noAutofit/>
          </a:bodyPr>
          <a:lstStyle/>
          <a:p>
            <a:pPr algn="ctr"/>
            <a:r>
              <a:rPr lang="en-US" sz="1200">
                <a:solidFill>
                  <a:srgbClr val="0B1020"/>
                </a:solidFill>
                <a:latin typeface="Aptos" panose="020B0004020202020204" pitchFamily="34" charset="0"/>
              </a:rPr>
              <a:t>worktree · DB · checks</a:t>
            </a:r>
          </a:p>
        </p:txBody>
      </p:sp>
      <p:sp>
        <p:nvSpPr>
          <p:cNvPr id="14" name="Rectangle: Rounded Corners 13">
            <a:extLst>
              <a:ext uri="{FF2B5EF4-FFF2-40B4-BE49-F238E27FC236}">
                <a16:creationId xmlns:a16="http://schemas.microsoft.com/office/drawing/2014/main" id="{0FFDF56B-6685-0A73-70D5-E8CEA75D6AA4}"/>
              </a:ext>
            </a:extLst>
          </p:cNvPr>
          <p:cNvSpPr/>
          <p:nvPr/>
        </p:nvSpPr>
        <p:spPr>
          <a:xfrm>
            <a:off x="4572000" y="3530600"/>
            <a:ext cx="2895600" cy="1524000"/>
          </a:xfrm>
          <a:prstGeom prst="roundRect">
            <a:avLst/>
          </a:prstGeom>
          <a:solidFill>
            <a:srgbClr val="DDF6EC"/>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20D70A5-84A4-1671-A7D4-CD4DE7783ED7}"/>
              </a:ext>
            </a:extLst>
          </p:cNvPr>
          <p:cNvSpPr txBox="1"/>
          <p:nvPr/>
        </p:nvSpPr>
        <p:spPr>
          <a:xfrm>
            <a:off x="4826000" y="3784600"/>
            <a:ext cx="2387600" cy="276999"/>
          </a:xfrm>
          <a:prstGeom prst="rect">
            <a:avLst/>
          </a:prstGeom>
          <a:noFill/>
        </p:spPr>
        <p:txBody>
          <a:bodyPr vert="horz" wrap="square" lIns="0" tIns="0" rIns="0" bIns="0" rtlCol="0" anchor="t">
            <a:noAutofit/>
          </a:bodyPr>
          <a:lstStyle/>
          <a:p>
            <a:pPr algn="ctr"/>
            <a:r>
              <a:rPr lang="en-US" sz="2400" b="1">
                <a:solidFill>
                  <a:srgbClr val="0B1020"/>
                </a:solidFill>
                <a:latin typeface="Aptos" panose="020B0004020202020204" pitchFamily="34" charset="0"/>
              </a:rPr>
              <a:t>CODEX</a:t>
            </a:r>
          </a:p>
        </p:txBody>
      </p:sp>
      <p:sp>
        <p:nvSpPr>
          <p:cNvPr id="16" name="TextBox 15">
            <a:extLst>
              <a:ext uri="{FF2B5EF4-FFF2-40B4-BE49-F238E27FC236}">
                <a16:creationId xmlns:a16="http://schemas.microsoft.com/office/drawing/2014/main" id="{168CD353-0BE9-42D5-D3E2-CCF7A7930AED}"/>
              </a:ext>
            </a:extLst>
          </p:cNvPr>
          <p:cNvSpPr txBox="1"/>
          <p:nvPr/>
        </p:nvSpPr>
        <p:spPr>
          <a:xfrm>
            <a:off x="4826000" y="4292600"/>
            <a:ext cx="2387600" cy="276999"/>
          </a:xfrm>
          <a:prstGeom prst="rect">
            <a:avLst/>
          </a:prstGeom>
          <a:noFill/>
        </p:spPr>
        <p:txBody>
          <a:bodyPr vert="horz" wrap="square" lIns="0" tIns="0" rIns="0" bIns="0" rtlCol="0" anchor="t">
            <a:noAutofit/>
          </a:bodyPr>
          <a:lstStyle/>
          <a:p>
            <a:pPr algn="ctr"/>
            <a:r>
              <a:rPr lang="en-US" sz="1400">
                <a:solidFill>
                  <a:srgbClr val="596579"/>
                </a:solidFill>
                <a:latin typeface="Cascadia Mono" panose="020B0609020000020004" pitchFamily="49" charset="0"/>
              </a:rPr>
              <a:t>durable exec thread</a:t>
            </a:r>
          </a:p>
        </p:txBody>
      </p:sp>
      <p:sp>
        <p:nvSpPr>
          <p:cNvPr id="17" name="TextBox 16">
            <a:extLst>
              <a:ext uri="{FF2B5EF4-FFF2-40B4-BE49-F238E27FC236}">
                <a16:creationId xmlns:a16="http://schemas.microsoft.com/office/drawing/2014/main" id="{3EE6AA48-42DD-6F72-FE01-0B40A244977D}"/>
              </a:ext>
            </a:extLst>
          </p:cNvPr>
          <p:cNvSpPr txBox="1"/>
          <p:nvPr/>
        </p:nvSpPr>
        <p:spPr>
          <a:xfrm>
            <a:off x="4826000" y="4699000"/>
            <a:ext cx="2387600" cy="276999"/>
          </a:xfrm>
          <a:prstGeom prst="rect">
            <a:avLst/>
          </a:prstGeom>
          <a:noFill/>
        </p:spPr>
        <p:txBody>
          <a:bodyPr vert="horz" wrap="square" lIns="0" tIns="0" rIns="0" bIns="0" rtlCol="0" anchor="t">
            <a:noAutofit/>
          </a:bodyPr>
          <a:lstStyle/>
          <a:p>
            <a:pPr algn="ctr"/>
            <a:r>
              <a:rPr lang="en-US" sz="1200">
                <a:solidFill>
                  <a:srgbClr val="0B1020"/>
                </a:solidFill>
                <a:latin typeface="Aptos" panose="020B0004020202020204" pitchFamily="34" charset="0"/>
              </a:rPr>
              <a:t>worktree · DB · checks</a:t>
            </a:r>
          </a:p>
        </p:txBody>
      </p:sp>
      <p:sp>
        <p:nvSpPr>
          <p:cNvPr id="18" name="Rectangle: Rounded Corners 17">
            <a:extLst>
              <a:ext uri="{FF2B5EF4-FFF2-40B4-BE49-F238E27FC236}">
                <a16:creationId xmlns:a16="http://schemas.microsoft.com/office/drawing/2014/main" id="{4879341B-E6F2-2FDD-1AB3-CC190ABC3DC4}"/>
              </a:ext>
            </a:extLst>
          </p:cNvPr>
          <p:cNvSpPr/>
          <p:nvPr/>
        </p:nvSpPr>
        <p:spPr>
          <a:xfrm>
            <a:off x="7543800" y="3530600"/>
            <a:ext cx="2895600" cy="1524000"/>
          </a:xfrm>
          <a:prstGeom prst="roundRect">
            <a:avLst/>
          </a:prstGeom>
          <a:solidFill>
            <a:srgbClr val="D8E9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D20F58A-75C8-BAAF-825F-86590F8F9A99}"/>
              </a:ext>
            </a:extLst>
          </p:cNvPr>
          <p:cNvSpPr txBox="1"/>
          <p:nvPr/>
        </p:nvSpPr>
        <p:spPr>
          <a:xfrm>
            <a:off x="7797800" y="3784600"/>
            <a:ext cx="2387600" cy="276999"/>
          </a:xfrm>
          <a:prstGeom prst="rect">
            <a:avLst/>
          </a:prstGeom>
          <a:noFill/>
        </p:spPr>
        <p:txBody>
          <a:bodyPr vert="horz" wrap="square" lIns="0" tIns="0" rIns="0" bIns="0" rtlCol="0" anchor="t">
            <a:noAutofit/>
          </a:bodyPr>
          <a:lstStyle/>
          <a:p>
            <a:pPr algn="ctr"/>
            <a:r>
              <a:rPr lang="en-US" sz="2400" b="1">
                <a:solidFill>
                  <a:srgbClr val="0B1020"/>
                </a:solidFill>
                <a:latin typeface="Aptos" panose="020B0004020202020204" pitchFamily="34" charset="0"/>
              </a:rPr>
              <a:t>CLAUDE</a:t>
            </a:r>
          </a:p>
        </p:txBody>
      </p:sp>
      <p:sp>
        <p:nvSpPr>
          <p:cNvPr id="20" name="TextBox 19">
            <a:extLst>
              <a:ext uri="{FF2B5EF4-FFF2-40B4-BE49-F238E27FC236}">
                <a16:creationId xmlns:a16="http://schemas.microsoft.com/office/drawing/2014/main" id="{A1177BAC-0B47-B7BA-797D-E0C73CDC6761}"/>
              </a:ext>
            </a:extLst>
          </p:cNvPr>
          <p:cNvSpPr txBox="1"/>
          <p:nvPr/>
        </p:nvSpPr>
        <p:spPr>
          <a:xfrm>
            <a:off x="7797800" y="4292600"/>
            <a:ext cx="2387600" cy="276999"/>
          </a:xfrm>
          <a:prstGeom prst="rect">
            <a:avLst/>
          </a:prstGeom>
          <a:noFill/>
        </p:spPr>
        <p:txBody>
          <a:bodyPr vert="horz" wrap="square" lIns="0" tIns="0" rIns="0" bIns="0" rtlCol="0" anchor="t">
            <a:noAutofit/>
          </a:bodyPr>
          <a:lstStyle/>
          <a:p>
            <a:pPr algn="ctr"/>
            <a:r>
              <a:rPr lang="en-US" sz="1400">
                <a:solidFill>
                  <a:srgbClr val="596579"/>
                </a:solidFill>
                <a:latin typeface="Cascadia Mono" panose="020B0609020000020004" pitchFamily="49" charset="0"/>
              </a:rPr>
              <a:t>Agent View session</a:t>
            </a:r>
          </a:p>
        </p:txBody>
      </p:sp>
      <p:sp>
        <p:nvSpPr>
          <p:cNvPr id="21" name="TextBox 20">
            <a:extLst>
              <a:ext uri="{FF2B5EF4-FFF2-40B4-BE49-F238E27FC236}">
                <a16:creationId xmlns:a16="http://schemas.microsoft.com/office/drawing/2014/main" id="{282CBA7D-064D-C868-4071-97C0D90E5257}"/>
              </a:ext>
            </a:extLst>
          </p:cNvPr>
          <p:cNvSpPr txBox="1"/>
          <p:nvPr/>
        </p:nvSpPr>
        <p:spPr>
          <a:xfrm>
            <a:off x="7797800" y="4699000"/>
            <a:ext cx="2387600" cy="276999"/>
          </a:xfrm>
          <a:prstGeom prst="rect">
            <a:avLst/>
          </a:prstGeom>
          <a:noFill/>
        </p:spPr>
        <p:txBody>
          <a:bodyPr vert="horz" wrap="square" lIns="0" tIns="0" rIns="0" bIns="0" rtlCol="0" anchor="t">
            <a:noAutofit/>
          </a:bodyPr>
          <a:lstStyle/>
          <a:p>
            <a:pPr algn="ctr"/>
            <a:r>
              <a:rPr lang="en-US" sz="1200">
                <a:solidFill>
                  <a:srgbClr val="0B1020"/>
                </a:solidFill>
                <a:latin typeface="Aptos" panose="020B0004020202020204" pitchFamily="34" charset="0"/>
              </a:rPr>
              <a:t>worktree · DB · checks</a:t>
            </a:r>
          </a:p>
        </p:txBody>
      </p:sp>
      <p:sp>
        <p:nvSpPr>
          <p:cNvPr id="22" name="Rectangle: Rounded Corners 21">
            <a:extLst>
              <a:ext uri="{FF2B5EF4-FFF2-40B4-BE49-F238E27FC236}">
                <a16:creationId xmlns:a16="http://schemas.microsoft.com/office/drawing/2014/main" id="{D7B9265F-41FE-ADE1-3327-8B7645161861}"/>
              </a:ext>
            </a:extLst>
          </p:cNvPr>
          <p:cNvSpPr/>
          <p:nvPr/>
        </p:nvSpPr>
        <p:spPr>
          <a:xfrm>
            <a:off x="1600200" y="5524500"/>
            <a:ext cx="8991600" cy="6604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05E55A4-9A9F-7B6B-AAFF-CD5C1961C48E}"/>
              </a:ext>
            </a:extLst>
          </p:cNvPr>
          <p:cNvSpPr txBox="1"/>
          <p:nvPr/>
        </p:nvSpPr>
        <p:spPr>
          <a:xfrm>
            <a:off x="1905000" y="5702300"/>
            <a:ext cx="8382000" cy="276999"/>
          </a:xfrm>
          <a:prstGeom prst="rect">
            <a:avLst/>
          </a:prstGeom>
          <a:noFill/>
        </p:spPr>
        <p:txBody>
          <a:bodyPr vert="horz" wrap="square" lIns="0" tIns="0" rIns="0" bIns="0" rtlCol="0" anchor="t">
            <a:noAutofit/>
          </a:bodyPr>
          <a:lstStyle/>
          <a:p>
            <a:pPr algn="ctr"/>
            <a:r>
              <a:rPr lang="en-US" sz="1600" b="1">
                <a:solidFill>
                  <a:srgbClr val="0B1020"/>
                </a:solidFill>
                <a:latin typeface="Cascadia Mono" panose="020B0609020000020004" pitchFamily="49" charset="0"/>
              </a:rPr>
              <a:t>factory status · factory chat · factory doctor</a:t>
            </a:r>
          </a:p>
        </p:txBody>
      </p:sp>
      <p:sp>
        <p:nvSpPr>
          <p:cNvPr id="24" name="TextBox 23">
            <a:extLst>
              <a:ext uri="{FF2B5EF4-FFF2-40B4-BE49-F238E27FC236}">
                <a16:creationId xmlns:a16="http://schemas.microsoft.com/office/drawing/2014/main" id="{0EAB66F7-2E06-5C5B-433C-A9BEB5E4FA91}"/>
              </a:ext>
            </a:extLst>
          </p:cNvPr>
          <p:cNvSpPr txBox="1"/>
          <p:nvPr/>
        </p:nvSpPr>
        <p:spPr>
          <a:xfrm>
            <a:off x="1600200" y="6337300"/>
            <a:ext cx="8991600" cy="276999"/>
          </a:xfrm>
          <a:prstGeom prst="rect">
            <a:avLst/>
          </a:prstGeom>
          <a:noFill/>
        </p:spPr>
        <p:txBody>
          <a:bodyPr vert="horz" wrap="square" lIns="0" tIns="0" rIns="0" bIns="0" rtlCol="0" anchor="t">
            <a:noAutofit/>
          </a:bodyPr>
          <a:lstStyle/>
          <a:p>
            <a:pPr algn="ctr"/>
            <a:r>
              <a:rPr lang="en-US" sz="1300">
                <a:solidFill>
                  <a:srgbClr val="596579"/>
                </a:solidFill>
                <a:latin typeface="Aptos" panose="020B0004020202020204" pitchFamily="34" charset="0"/>
              </a:rPr>
              <a:t>Codex workers stay outside Claude Agent View; Factory keeps the task UX consistent.</a:t>
            </a:r>
          </a:p>
        </p:txBody>
      </p:sp>
    </p:spTree>
    <p:extLst>
      <p:ext uri="{BB962C8B-B14F-4D97-AF65-F5344CB8AC3E}">
        <p14:creationId xmlns:p14="http://schemas.microsoft.com/office/powerpoint/2010/main" val="300027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16D579-E7D8-B341-DF6A-4E0E9A43DF6C}"/>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Safety lives in invariants, not prompts.</a:t>
            </a:r>
          </a:p>
        </p:txBody>
      </p:sp>
      <p:sp>
        <p:nvSpPr>
          <p:cNvPr id="3" name="TextBox 2">
            <a:extLst>
              <a:ext uri="{FF2B5EF4-FFF2-40B4-BE49-F238E27FC236}">
                <a16:creationId xmlns:a16="http://schemas.microsoft.com/office/drawing/2014/main" id="{BA240E07-5585-FC52-9AEC-EE0B2442FF67}"/>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9</a:t>
            </a:r>
          </a:p>
        </p:txBody>
      </p:sp>
      <p:sp>
        <p:nvSpPr>
          <p:cNvPr id="4" name="TextBox 3">
            <a:extLst>
              <a:ext uri="{FF2B5EF4-FFF2-40B4-BE49-F238E27FC236}">
                <a16:creationId xmlns:a16="http://schemas.microsoft.com/office/drawing/2014/main" id="{44EC5DEA-776A-5FD3-502B-838500181B07}"/>
              </a:ext>
            </a:extLst>
          </p:cNvPr>
          <p:cNvSpPr txBox="1"/>
          <p:nvPr/>
        </p:nvSpPr>
        <p:spPr>
          <a:xfrm>
            <a:off x="609600" y="14986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01</a:t>
            </a:r>
          </a:p>
        </p:txBody>
      </p:sp>
      <p:sp>
        <p:nvSpPr>
          <p:cNvPr id="5" name="TextBox 4">
            <a:extLst>
              <a:ext uri="{FF2B5EF4-FFF2-40B4-BE49-F238E27FC236}">
                <a16:creationId xmlns:a16="http://schemas.microsoft.com/office/drawing/2014/main" id="{704A6447-DBA2-6CDC-D282-DA8368A9D8CC}"/>
              </a:ext>
            </a:extLst>
          </p:cNvPr>
          <p:cNvSpPr txBox="1"/>
          <p:nvPr/>
        </p:nvSpPr>
        <p:spPr>
          <a:xfrm>
            <a:off x="1295400" y="14986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External worktree</a:t>
            </a:r>
          </a:p>
        </p:txBody>
      </p:sp>
      <p:sp>
        <p:nvSpPr>
          <p:cNvPr id="6" name="TextBox 5">
            <a:extLst>
              <a:ext uri="{FF2B5EF4-FFF2-40B4-BE49-F238E27FC236}">
                <a16:creationId xmlns:a16="http://schemas.microsoft.com/office/drawing/2014/main" id="{63ABEC9D-C1FC-B7A8-3D6A-674B92A8E9B0}"/>
              </a:ext>
            </a:extLst>
          </p:cNvPr>
          <p:cNvSpPr txBox="1"/>
          <p:nvPr/>
        </p:nvSpPr>
        <p:spPr>
          <a:xfrm>
            <a:off x="4191000" y="14986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The main checkout is never reset or merged.</a:t>
            </a:r>
          </a:p>
        </p:txBody>
      </p:sp>
      <p:cxnSp>
        <p:nvCxnSpPr>
          <p:cNvPr id="7" name="Straight Connector 6">
            <a:extLst>
              <a:ext uri="{FF2B5EF4-FFF2-40B4-BE49-F238E27FC236}">
                <a16:creationId xmlns:a16="http://schemas.microsoft.com/office/drawing/2014/main" id="{20CCA5CC-2D5A-0102-2E56-1B8207025B24}"/>
              </a:ext>
            </a:extLst>
          </p:cNvPr>
          <p:cNvCxnSpPr/>
          <p:nvPr/>
        </p:nvCxnSpPr>
        <p:spPr>
          <a:xfrm>
            <a:off x="609600" y="20447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506C003-DFDE-B562-30CC-FDE9FDB1B725}"/>
              </a:ext>
            </a:extLst>
          </p:cNvPr>
          <p:cNvSpPr txBox="1"/>
          <p:nvPr/>
        </p:nvSpPr>
        <p:spPr>
          <a:xfrm>
            <a:off x="609600" y="23749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02</a:t>
            </a:r>
          </a:p>
        </p:txBody>
      </p:sp>
      <p:sp>
        <p:nvSpPr>
          <p:cNvPr id="9" name="TextBox 8">
            <a:extLst>
              <a:ext uri="{FF2B5EF4-FFF2-40B4-BE49-F238E27FC236}">
                <a16:creationId xmlns:a16="http://schemas.microsoft.com/office/drawing/2014/main" id="{D492EC48-1060-7E88-FD90-13A8D0545C01}"/>
              </a:ext>
            </a:extLst>
          </p:cNvPr>
          <p:cNvSpPr txBox="1"/>
          <p:nvPr/>
        </p:nvSpPr>
        <p:spPr>
          <a:xfrm>
            <a:off x="1295400" y="23749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Immutable approval</a:t>
            </a:r>
          </a:p>
        </p:txBody>
      </p:sp>
      <p:sp>
        <p:nvSpPr>
          <p:cNvPr id="10" name="TextBox 9">
            <a:extLst>
              <a:ext uri="{FF2B5EF4-FFF2-40B4-BE49-F238E27FC236}">
                <a16:creationId xmlns:a16="http://schemas.microsoft.com/office/drawing/2014/main" id="{2CEC3218-8A9F-BD2C-8AF1-7386E3F02402}"/>
              </a:ext>
            </a:extLst>
          </p:cNvPr>
          <p:cNvSpPr txBox="1"/>
          <p:nvPr/>
        </p:nvSpPr>
        <p:spPr>
          <a:xfrm>
            <a:off x="4191000" y="23749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Review pins one clean worker SHA and plan hash.</a:t>
            </a:r>
          </a:p>
        </p:txBody>
      </p:sp>
      <p:cxnSp>
        <p:nvCxnSpPr>
          <p:cNvPr id="11" name="Straight Connector 10">
            <a:extLst>
              <a:ext uri="{FF2B5EF4-FFF2-40B4-BE49-F238E27FC236}">
                <a16:creationId xmlns:a16="http://schemas.microsoft.com/office/drawing/2014/main" id="{1CB20346-1DB1-2BD8-B9AB-E7AAB3145BAF}"/>
              </a:ext>
            </a:extLst>
          </p:cNvPr>
          <p:cNvCxnSpPr/>
          <p:nvPr/>
        </p:nvCxnSpPr>
        <p:spPr>
          <a:xfrm>
            <a:off x="609600" y="29210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F3D0DA9-4FC8-1CD6-4328-9306B99569C2}"/>
              </a:ext>
            </a:extLst>
          </p:cNvPr>
          <p:cNvSpPr txBox="1"/>
          <p:nvPr/>
        </p:nvSpPr>
        <p:spPr>
          <a:xfrm>
            <a:off x="609600" y="32512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03</a:t>
            </a:r>
          </a:p>
        </p:txBody>
      </p:sp>
      <p:sp>
        <p:nvSpPr>
          <p:cNvPr id="13" name="TextBox 12">
            <a:extLst>
              <a:ext uri="{FF2B5EF4-FFF2-40B4-BE49-F238E27FC236}">
                <a16:creationId xmlns:a16="http://schemas.microsoft.com/office/drawing/2014/main" id="{5F203243-1FFD-55E2-925C-B6459D9516D0}"/>
              </a:ext>
            </a:extLst>
          </p:cNvPr>
          <p:cNvSpPr txBox="1"/>
          <p:nvPr/>
        </p:nvSpPr>
        <p:spPr>
          <a:xfrm>
            <a:off x="1295400" y="32512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Isolated checks</a:t>
            </a:r>
          </a:p>
        </p:txBody>
      </p:sp>
      <p:sp>
        <p:nvSpPr>
          <p:cNvPr id="14" name="TextBox 13">
            <a:extLst>
              <a:ext uri="{FF2B5EF4-FFF2-40B4-BE49-F238E27FC236}">
                <a16:creationId xmlns:a16="http://schemas.microsoft.com/office/drawing/2014/main" id="{51060B1F-75CB-9CDA-2C9D-FF5B0C44307E}"/>
              </a:ext>
            </a:extLst>
          </p:cNvPr>
          <p:cNvSpPr txBox="1"/>
          <p:nvPr/>
        </p:nvSpPr>
        <p:spPr>
          <a:xfrm>
            <a:off x="4191000" y="32512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Worker, integration and release commands run separately.</a:t>
            </a:r>
          </a:p>
        </p:txBody>
      </p:sp>
      <p:cxnSp>
        <p:nvCxnSpPr>
          <p:cNvPr id="15" name="Straight Connector 14">
            <a:extLst>
              <a:ext uri="{FF2B5EF4-FFF2-40B4-BE49-F238E27FC236}">
                <a16:creationId xmlns:a16="http://schemas.microsoft.com/office/drawing/2014/main" id="{A8676A92-1D6E-AFD4-6598-436B9D8B7595}"/>
              </a:ext>
            </a:extLst>
          </p:cNvPr>
          <p:cNvCxnSpPr/>
          <p:nvPr/>
        </p:nvCxnSpPr>
        <p:spPr>
          <a:xfrm>
            <a:off x="609600" y="37973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0F6441B-B0E6-0D3C-CD90-88361A0A30D3}"/>
              </a:ext>
            </a:extLst>
          </p:cNvPr>
          <p:cNvSpPr txBox="1"/>
          <p:nvPr/>
        </p:nvSpPr>
        <p:spPr>
          <a:xfrm>
            <a:off x="609600" y="412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04</a:t>
            </a:r>
          </a:p>
        </p:txBody>
      </p:sp>
      <p:sp>
        <p:nvSpPr>
          <p:cNvPr id="17" name="TextBox 16">
            <a:extLst>
              <a:ext uri="{FF2B5EF4-FFF2-40B4-BE49-F238E27FC236}">
                <a16:creationId xmlns:a16="http://schemas.microsoft.com/office/drawing/2014/main" id="{728D8C1B-E61B-CA8D-2954-FEA756F0AF87}"/>
              </a:ext>
            </a:extLst>
          </p:cNvPr>
          <p:cNvSpPr txBox="1"/>
          <p:nvPr/>
        </p:nvSpPr>
        <p:spPr>
          <a:xfrm>
            <a:off x="1295400" y="41275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No-force publication</a:t>
            </a:r>
          </a:p>
        </p:txBody>
      </p:sp>
      <p:sp>
        <p:nvSpPr>
          <p:cNvPr id="18" name="TextBox 17">
            <a:extLst>
              <a:ext uri="{FF2B5EF4-FFF2-40B4-BE49-F238E27FC236}">
                <a16:creationId xmlns:a16="http://schemas.microsoft.com/office/drawing/2014/main" id="{E9E77830-8665-FD55-72C9-B25DD8E539F4}"/>
              </a:ext>
            </a:extLst>
          </p:cNvPr>
          <p:cNvSpPr txBox="1"/>
          <p:nvPr/>
        </p:nvSpPr>
        <p:spPr>
          <a:xfrm>
            <a:off x="4191000" y="41275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Explicit refspecs plus post-push reachability checks.</a:t>
            </a:r>
          </a:p>
        </p:txBody>
      </p:sp>
      <p:cxnSp>
        <p:nvCxnSpPr>
          <p:cNvPr id="19" name="Straight Connector 18">
            <a:extLst>
              <a:ext uri="{FF2B5EF4-FFF2-40B4-BE49-F238E27FC236}">
                <a16:creationId xmlns:a16="http://schemas.microsoft.com/office/drawing/2014/main" id="{13107CEC-B22C-E6AF-43E5-E4B5D9CC3AED}"/>
              </a:ext>
            </a:extLst>
          </p:cNvPr>
          <p:cNvCxnSpPr/>
          <p:nvPr/>
        </p:nvCxnSpPr>
        <p:spPr>
          <a:xfrm>
            <a:off x="609600" y="46736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7A32A20-8ABB-EC4D-3551-E618621C0088}"/>
              </a:ext>
            </a:extLst>
          </p:cNvPr>
          <p:cNvSpPr txBox="1"/>
          <p:nvPr/>
        </p:nvSpPr>
        <p:spPr>
          <a:xfrm>
            <a:off x="609600" y="50038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05</a:t>
            </a:r>
          </a:p>
        </p:txBody>
      </p:sp>
      <p:sp>
        <p:nvSpPr>
          <p:cNvPr id="21" name="TextBox 20">
            <a:extLst>
              <a:ext uri="{FF2B5EF4-FFF2-40B4-BE49-F238E27FC236}">
                <a16:creationId xmlns:a16="http://schemas.microsoft.com/office/drawing/2014/main" id="{C78AB6F8-8869-F9F0-A8A7-37D231457EDB}"/>
              </a:ext>
            </a:extLst>
          </p:cNvPr>
          <p:cNvSpPr txBox="1"/>
          <p:nvPr/>
        </p:nvSpPr>
        <p:spPr>
          <a:xfrm>
            <a:off x="1295400" y="50038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Verified cleanup</a:t>
            </a:r>
          </a:p>
        </p:txBody>
      </p:sp>
      <p:sp>
        <p:nvSpPr>
          <p:cNvPr id="22" name="TextBox 21">
            <a:extLst>
              <a:ext uri="{FF2B5EF4-FFF2-40B4-BE49-F238E27FC236}">
                <a16:creationId xmlns:a16="http://schemas.microsoft.com/office/drawing/2014/main" id="{BA4FB79F-D938-2F08-2A5B-5C6CCDCD3BF3}"/>
              </a:ext>
            </a:extLst>
          </p:cNvPr>
          <p:cNvSpPr txBox="1"/>
          <p:nvPr/>
        </p:nvSpPr>
        <p:spPr>
          <a:xfrm>
            <a:off x="4191000" y="50038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Stop sessions/processes before DB, worktree or branch removal.</a:t>
            </a:r>
          </a:p>
        </p:txBody>
      </p:sp>
      <p:cxnSp>
        <p:nvCxnSpPr>
          <p:cNvPr id="23" name="Straight Connector 22">
            <a:extLst>
              <a:ext uri="{FF2B5EF4-FFF2-40B4-BE49-F238E27FC236}">
                <a16:creationId xmlns:a16="http://schemas.microsoft.com/office/drawing/2014/main" id="{F05EEB36-2777-D81F-9C25-CA85FF9A244E}"/>
              </a:ext>
            </a:extLst>
          </p:cNvPr>
          <p:cNvCxnSpPr/>
          <p:nvPr/>
        </p:nvCxnSpPr>
        <p:spPr>
          <a:xfrm>
            <a:off x="609600" y="55499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1689029E-9F46-422F-66A2-6F0CA1368307}"/>
              </a:ext>
            </a:extLst>
          </p:cNvPr>
          <p:cNvSpPr/>
          <p:nvPr/>
        </p:nvSpPr>
        <p:spPr>
          <a:xfrm>
            <a:off x="8940800" y="1498600"/>
            <a:ext cx="2641600" cy="46990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5E7D0E5-B457-D5CC-EFF7-375F2AAF0B7E}"/>
              </a:ext>
            </a:extLst>
          </p:cNvPr>
          <p:cNvSpPr txBox="1"/>
          <p:nvPr/>
        </p:nvSpPr>
        <p:spPr>
          <a:xfrm>
            <a:off x="9220200" y="1803400"/>
            <a:ext cx="2082800" cy="276999"/>
          </a:xfrm>
          <a:prstGeom prst="rect">
            <a:avLst/>
          </a:prstGeom>
          <a:noFill/>
        </p:spPr>
        <p:txBody>
          <a:bodyPr vert="horz" wrap="square" lIns="0" tIns="0" rIns="0" bIns="0" rtlCol="0" anchor="t">
            <a:noAutofit/>
          </a:bodyPr>
          <a:lstStyle/>
          <a:p>
            <a:r>
              <a:rPr lang="en-US" sz="2200" b="1">
                <a:solidFill>
                  <a:srgbClr val="FFFFFF"/>
                </a:solidFill>
                <a:latin typeface="Aptos" panose="020B0004020202020204" pitchFamily="34" charset="0"/>
              </a:rPr>
              <a:t>The failures that shaped it</a:t>
            </a:r>
          </a:p>
        </p:txBody>
      </p:sp>
      <p:cxnSp>
        <p:nvCxnSpPr>
          <p:cNvPr id="26" name="Straight Connector 25">
            <a:extLst>
              <a:ext uri="{FF2B5EF4-FFF2-40B4-BE49-F238E27FC236}">
                <a16:creationId xmlns:a16="http://schemas.microsoft.com/office/drawing/2014/main" id="{6DF7E8E0-0C86-EE64-8E7E-300203A5E6AB}"/>
              </a:ext>
            </a:extLst>
          </p:cNvPr>
          <p:cNvCxnSpPr/>
          <p:nvPr/>
        </p:nvCxnSpPr>
        <p:spPr>
          <a:xfrm>
            <a:off x="9220200" y="2667000"/>
            <a:ext cx="2032000" cy="0"/>
          </a:xfrm>
          <a:prstGeom prst="line">
            <a:avLst/>
          </a:prstGeom>
          <a:ln w="38100">
            <a:solidFill>
              <a:srgbClr val="6DCBF4"/>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988610A-E8F0-B213-7B14-E5F64F657785}"/>
              </a:ext>
            </a:extLst>
          </p:cNvPr>
          <p:cNvSpPr txBox="1"/>
          <p:nvPr/>
        </p:nvSpPr>
        <p:spPr>
          <a:xfrm>
            <a:off x="9220200" y="28575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UTF-8 + argv</a:t>
            </a:r>
          </a:p>
        </p:txBody>
      </p:sp>
      <p:sp>
        <p:nvSpPr>
          <p:cNvPr id="28" name="TextBox 27">
            <a:extLst>
              <a:ext uri="{FF2B5EF4-FFF2-40B4-BE49-F238E27FC236}">
                <a16:creationId xmlns:a16="http://schemas.microsoft.com/office/drawing/2014/main" id="{6B3B5294-4808-A0DA-F29E-A7ADC4EE45C7}"/>
              </a:ext>
            </a:extLst>
          </p:cNvPr>
          <p:cNvSpPr txBox="1"/>
          <p:nvPr/>
        </p:nvSpPr>
        <p:spPr>
          <a:xfrm>
            <a:off x="9220200" y="31750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Windows PowerShell 5.1 boundaries</a:t>
            </a:r>
          </a:p>
        </p:txBody>
      </p:sp>
      <p:sp>
        <p:nvSpPr>
          <p:cNvPr id="29" name="TextBox 28">
            <a:extLst>
              <a:ext uri="{FF2B5EF4-FFF2-40B4-BE49-F238E27FC236}">
                <a16:creationId xmlns:a16="http://schemas.microsoft.com/office/drawing/2014/main" id="{E7DDEEAC-5A48-5324-C7B2-7237E74D13A4}"/>
              </a:ext>
            </a:extLst>
          </p:cNvPr>
          <p:cNvSpPr txBox="1"/>
          <p:nvPr/>
        </p:nvSpPr>
        <p:spPr>
          <a:xfrm>
            <a:off x="9220200" y="36322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Stale sessions</a:t>
            </a:r>
          </a:p>
        </p:txBody>
      </p:sp>
      <p:sp>
        <p:nvSpPr>
          <p:cNvPr id="30" name="TextBox 29">
            <a:extLst>
              <a:ext uri="{FF2B5EF4-FFF2-40B4-BE49-F238E27FC236}">
                <a16:creationId xmlns:a16="http://schemas.microsoft.com/office/drawing/2014/main" id="{F93ECC06-D3A3-3F26-AF8B-1F4EC8AC9C08}"/>
              </a:ext>
            </a:extLst>
          </p:cNvPr>
          <p:cNvSpPr txBox="1"/>
          <p:nvPr/>
        </p:nvSpPr>
        <p:spPr>
          <a:xfrm>
            <a:off x="9220200" y="39497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PID-aware reconciliation</a:t>
            </a:r>
          </a:p>
        </p:txBody>
      </p:sp>
      <p:sp>
        <p:nvSpPr>
          <p:cNvPr id="31" name="TextBox 30">
            <a:extLst>
              <a:ext uri="{FF2B5EF4-FFF2-40B4-BE49-F238E27FC236}">
                <a16:creationId xmlns:a16="http://schemas.microsoft.com/office/drawing/2014/main" id="{223A5CA2-0855-9FB4-BE9C-8B367127CBBD}"/>
              </a:ext>
            </a:extLst>
          </p:cNvPr>
          <p:cNvSpPr txBox="1"/>
          <p:nvPr/>
        </p:nvSpPr>
        <p:spPr>
          <a:xfrm>
            <a:off x="9220200" y="44069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Junction cleanup</a:t>
            </a:r>
          </a:p>
        </p:txBody>
      </p:sp>
      <p:sp>
        <p:nvSpPr>
          <p:cNvPr id="32" name="TextBox 31">
            <a:extLst>
              <a:ext uri="{FF2B5EF4-FFF2-40B4-BE49-F238E27FC236}">
                <a16:creationId xmlns:a16="http://schemas.microsoft.com/office/drawing/2014/main" id="{CDAD495E-005B-DF04-F43F-E5B925043E07}"/>
              </a:ext>
            </a:extLst>
          </p:cNvPr>
          <p:cNvSpPr txBox="1"/>
          <p:nvPr/>
        </p:nvSpPr>
        <p:spPr>
          <a:xfrm>
            <a:off x="9220200" y="47244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unlink, never traverse</a:t>
            </a:r>
          </a:p>
        </p:txBody>
      </p:sp>
      <p:sp>
        <p:nvSpPr>
          <p:cNvPr id="33" name="TextBox 32">
            <a:extLst>
              <a:ext uri="{FF2B5EF4-FFF2-40B4-BE49-F238E27FC236}">
                <a16:creationId xmlns:a16="http://schemas.microsoft.com/office/drawing/2014/main" id="{47F851E1-69B3-5799-00CD-B0EAC80D4757}"/>
              </a:ext>
            </a:extLst>
          </p:cNvPr>
          <p:cNvSpPr txBox="1"/>
          <p:nvPr/>
        </p:nvSpPr>
        <p:spPr>
          <a:xfrm>
            <a:off x="9220200" y="51816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Fallback workers</a:t>
            </a:r>
          </a:p>
        </p:txBody>
      </p:sp>
      <p:sp>
        <p:nvSpPr>
          <p:cNvPr id="34" name="TextBox 33">
            <a:extLst>
              <a:ext uri="{FF2B5EF4-FFF2-40B4-BE49-F238E27FC236}">
                <a16:creationId xmlns:a16="http://schemas.microsoft.com/office/drawing/2014/main" id="{05C486B2-D6FC-7AFC-ED17-001A02CB47AF}"/>
              </a:ext>
            </a:extLst>
          </p:cNvPr>
          <p:cNvSpPr txBox="1"/>
          <p:nvPr/>
        </p:nvSpPr>
        <p:spPr>
          <a:xfrm>
            <a:off x="9220200" y="54991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fail closed, audit the path</a:t>
            </a:r>
          </a:p>
        </p:txBody>
      </p:sp>
    </p:spTree>
    <p:extLst>
      <p:ext uri="{BB962C8B-B14F-4D97-AF65-F5344CB8AC3E}">
        <p14:creationId xmlns:p14="http://schemas.microsoft.com/office/powerpoint/2010/main" val="600287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B2CF92-7403-40F4-CCF3-F384760E8C27}"/>
              </a:ext>
            </a:extLst>
          </p:cNvPr>
          <p:cNvSpPr txBox="1"/>
          <p:nvPr/>
        </p:nvSpPr>
        <p:spPr>
          <a:xfrm>
            <a:off x="558800" y="457200"/>
            <a:ext cx="6350000" cy="276999"/>
          </a:xfrm>
          <a:prstGeom prst="rect">
            <a:avLst/>
          </a:prstGeom>
          <a:noFill/>
        </p:spPr>
        <p:txBody>
          <a:bodyPr vert="horz" wrap="square" lIns="0" tIns="0" rIns="0" bIns="0" rtlCol="0" anchor="t">
            <a:noAutofit/>
          </a:bodyPr>
          <a:lstStyle/>
          <a:p>
            <a:r>
              <a:rPr lang="en-US" sz="1200" b="1">
                <a:solidFill>
                  <a:srgbClr val="3D8DFF"/>
                </a:solidFill>
                <a:latin typeface="Aptos" panose="020B0004020202020204" pitchFamily="34" charset="0"/>
              </a:rPr>
              <a:t>THIS IS ALREADY CARRYING REAL WORK</a:t>
            </a:r>
          </a:p>
        </p:txBody>
      </p:sp>
      <p:sp>
        <p:nvSpPr>
          <p:cNvPr id="3" name="TextBox 2">
            <a:extLst>
              <a:ext uri="{FF2B5EF4-FFF2-40B4-BE49-F238E27FC236}">
                <a16:creationId xmlns:a16="http://schemas.microsoft.com/office/drawing/2014/main" id="{ADB6787B-1628-7F0B-911F-1B6AED13427A}"/>
              </a:ext>
            </a:extLst>
          </p:cNvPr>
          <p:cNvSpPr txBox="1"/>
          <p:nvPr/>
        </p:nvSpPr>
        <p:spPr>
          <a:xfrm>
            <a:off x="558800" y="1016000"/>
            <a:ext cx="9652000" cy="276999"/>
          </a:xfrm>
          <a:prstGeom prst="rect">
            <a:avLst/>
          </a:prstGeom>
          <a:noFill/>
        </p:spPr>
        <p:txBody>
          <a:bodyPr vert="horz" wrap="square" lIns="0" tIns="0" rIns="0" bIns="0" rtlCol="0" anchor="t">
            <a:noAutofit/>
          </a:bodyPr>
          <a:lstStyle/>
          <a:p>
            <a:r>
              <a:rPr lang="en-US" sz="4500" b="1">
                <a:solidFill>
                  <a:srgbClr val="0B1020"/>
                </a:solidFill>
                <a:latin typeface="Aptos Display" panose="020B0004020202020204" pitchFamily="34" charset="0"/>
              </a:rPr>
              <a:t>Stop managing worktrees.</a:t>
            </a:r>
          </a:p>
          <a:p>
            <a:r>
              <a:rPr lang="en-US" sz="4500" b="1">
                <a:solidFill>
                  <a:srgbClr val="0B1020"/>
                </a:solidFill>
                <a:latin typeface="Aptos Display" panose="020B0004020202020204" pitchFamily="34" charset="0"/>
              </a:rPr>
              <a:t>Start managing a queue.</a:t>
            </a:r>
          </a:p>
        </p:txBody>
      </p:sp>
      <p:cxnSp>
        <p:nvCxnSpPr>
          <p:cNvPr id="4" name="Straight Connector 3">
            <a:extLst>
              <a:ext uri="{FF2B5EF4-FFF2-40B4-BE49-F238E27FC236}">
                <a16:creationId xmlns:a16="http://schemas.microsoft.com/office/drawing/2014/main" id="{1A385941-1411-48BE-38D5-B5F2BE854964}"/>
              </a:ext>
            </a:extLst>
          </p:cNvPr>
          <p:cNvCxnSpPr/>
          <p:nvPr/>
        </p:nvCxnSpPr>
        <p:spPr>
          <a:xfrm>
            <a:off x="558800" y="3060700"/>
            <a:ext cx="5181600" cy="0"/>
          </a:xfrm>
          <a:prstGeom prst="line">
            <a:avLst/>
          </a:prstGeom>
          <a:ln w="15240">
            <a:solidFill>
              <a:srgbClr val="BCC7D6"/>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5178E69-68A5-C285-2D5C-449DD751045F}"/>
              </a:ext>
            </a:extLst>
          </p:cNvPr>
          <p:cNvSpPr txBox="1"/>
          <p:nvPr/>
        </p:nvSpPr>
        <p:spPr>
          <a:xfrm>
            <a:off x="558800" y="3263900"/>
            <a:ext cx="5181600" cy="276999"/>
          </a:xfrm>
          <a:prstGeom prst="rect">
            <a:avLst/>
          </a:prstGeom>
          <a:noFill/>
        </p:spPr>
        <p:txBody>
          <a:bodyPr vert="horz" wrap="square" lIns="0" tIns="0" rIns="0" bIns="0" rtlCol="0" anchor="t">
            <a:noAutofit/>
          </a:bodyPr>
          <a:lstStyle/>
          <a:p>
            <a:r>
              <a:rPr lang="en-US" sz="4800" b="1">
                <a:solidFill>
                  <a:srgbClr val="0B1020"/>
                </a:solidFill>
                <a:latin typeface="Aptos Display" panose="020B0004020202020204" pitchFamily="34" charset="0"/>
              </a:rPr>
              <a:t>100+</a:t>
            </a:r>
          </a:p>
        </p:txBody>
      </p:sp>
      <p:sp>
        <p:nvSpPr>
          <p:cNvPr id="6" name="TextBox 5">
            <a:extLst>
              <a:ext uri="{FF2B5EF4-FFF2-40B4-BE49-F238E27FC236}">
                <a16:creationId xmlns:a16="http://schemas.microsoft.com/office/drawing/2014/main" id="{792FD9CD-780C-4988-3119-AF2BEBC8FDAB}"/>
              </a:ext>
            </a:extLst>
          </p:cNvPr>
          <p:cNvSpPr txBox="1"/>
          <p:nvPr/>
        </p:nvSpPr>
        <p:spPr>
          <a:xfrm>
            <a:off x="558800" y="4165600"/>
            <a:ext cx="4953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AwesomeHR Asana tasks closed</a:t>
            </a:r>
          </a:p>
        </p:txBody>
      </p:sp>
      <p:cxnSp>
        <p:nvCxnSpPr>
          <p:cNvPr id="7" name="Straight Connector 6">
            <a:extLst>
              <a:ext uri="{FF2B5EF4-FFF2-40B4-BE49-F238E27FC236}">
                <a16:creationId xmlns:a16="http://schemas.microsoft.com/office/drawing/2014/main" id="{E66D3FFC-F21F-7E98-34DA-BBC44C59651A}"/>
              </a:ext>
            </a:extLst>
          </p:cNvPr>
          <p:cNvCxnSpPr/>
          <p:nvPr/>
        </p:nvCxnSpPr>
        <p:spPr>
          <a:xfrm>
            <a:off x="6451600" y="3060700"/>
            <a:ext cx="5181600" cy="0"/>
          </a:xfrm>
          <a:prstGeom prst="line">
            <a:avLst/>
          </a:prstGeom>
          <a:ln w="15240">
            <a:solidFill>
              <a:srgbClr val="BCC7D6"/>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933D5ED-9C4E-4FB9-7A94-2459CCBF3599}"/>
              </a:ext>
            </a:extLst>
          </p:cNvPr>
          <p:cNvSpPr txBox="1"/>
          <p:nvPr/>
        </p:nvSpPr>
        <p:spPr>
          <a:xfrm>
            <a:off x="6451600" y="3263900"/>
            <a:ext cx="5181600" cy="276999"/>
          </a:xfrm>
          <a:prstGeom prst="rect">
            <a:avLst/>
          </a:prstGeom>
          <a:noFill/>
        </p:spPr>
        <p:txBody>
          <a:bodyPr vert="horz" wrap="square" lIns="0" tIns="0" rIns="0" bIns="0" rtlCol="0" anchor="t">
            <a:noAutofit/>
          </a:bodyPr>
          <a:lstStyle/>
          <a:p>
            <a:r>
              <a:rPr lang="en-US" sz="4800" b="1">
                <a:solidFill>
                  <a:srgbClr val="0B1020"/>
                </a:solidFill>
                <a:latin typeface="Aptos Display" panose="020B0004020202020204" pitchFamily="34" charset="0"/>
              </a:rPr>
              <a:t>~50</a:t>
            </a:r>
          </a:p>
        </p:txBody>
      </p:sp>
      <p:sp>
        <p:nvSpPr>
          <p:cNvPr id="9" name="TextBox 8">
            <a:extLst>
              <a:ext uri="{FF2B5EF4-FFF2-40B4-BE49-F238E27FC236}">
                <a16:creationId xmlns:a16="http://schemas.microsoft.com/office/drawing/2014/main" id="{432D1E81-F024-6A11-9E5D-2B4C04B0E26D}"/>
              </a:ext>
            </a:extLst>
          </p:cNvPr>
          <p:cNvSpPr txBox="1"/>
          <p:nvPr/>
        </p:nvSpPr>
        <p:spPr>
          <a:xfrm>
            <a:off x="6451600" y="4165600"/>
            <a:ext cx="4953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completed through Factory</a:t>
            </a:r>
          </a:p>
        </p:txBody>
      </p:sp>
      <p:sp>
        <p:nvSpPr>
          <p:cNvPr id="10" name="Rectangle: Rounded Corners 9">
            <a:extLst>
              <a:ext uri="{FF2B5EF4-FFF2-40B4-BE49-F238E27FC236}">
                <a16:creationId xmlns:a16="http://schemas.microsoft.com/office/drawing/2014/main" id="{52D192BE-A571-3B6F-C4E7-2CB3EB7D9884}"/>
              </a:ext>
            </a:extLst>
          </p:cNvPr>
          <p:cNvSpPr/>
          <p:nvPr/>
        </p:nvSpPr>
        <p:spPr>
          <a:xfrm>
            <a:off x="558800" y="5105400"/>
            <a:ext cx="10744200" cy="914400"/>
          </a:xfrm>
          <a:prstGeom prst="roundRect">
            <a:avLst/>
          </a:prstGeom>
          <a:solidFill>
            <a:srgbClr val="DDF6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B4DFDAD-4F0D-02CA-48B7-84C3B99D81C2}"/>
              </a:ext>
            </a:extLst>
          </p:cNvPr>
          <p:cNvSpPr txBox="1"/>
          <p:nvPr/>
        </p:nvSpPr>
        <p:spPr>
          <a:xfrm>
            <a:off x="863600" y="5283200"/>
            <a:ext cx="3937000" cy="276999"/>
          </a:xfrm>
          <a:prstGeom prst="rect">
            <a:avLst/>
          </a:prstGeom>
          <a:noFill/>
        </p:spPr>
        <p:txBody>
          <a:bodyPr vert="horz" wrap="square" lIns="0" tIns="0" rIns="0" bIns="0" rtlCol="0" anchor="t">
            <a:noAutofit/>
          </a:bodyPr>
          <a:lstStyle/>
          <a:p>
            <a:r>
              <a:rPr lang="en-US" sz="1700" b="1">
                <a:solidFill>
                  <a:srgbClr val="0B1020"/>
                </a:solidFill>
                <a:latin typeface="Aptos" panose="020B0004020202020204" pitchFamily="34" charset="0"/>
              </a:rPr>
              <a:t>CLAUDE + CODEX</a:t>
            </a:r>
          </a:p>
        </p:txBody>
      </p:sp>
      <p:sp>
        <p:nvSpPr>
          <p:cNvPr id="12" name="TextBox 11">
            <a:extLst>
              <a:ext uri="{FF2B5EF4-FFF2-40B4-BE49-F238E27FC236}">
                <a16:creationId xmlns:a16="http://schemas.microsoft.com/office/drawing/2014/main" id="{68928151-4F5C-E19E-B911-62B3050B39F7}"/>
              </a:ext>
            </a:extLst>
          </p:cNvPr>
          <p:cNvSpPr txBox="1"/>
          <p:nvPr/>
        </p:nvSpPr>
        <p:spPr>
          <a:xfrm>
            <a:off x="863600" y="5613400"/>
            <a:ext cx="3937000" cy="276999"/>
          </a:xfrm>
          <a:prstGeom prst="rect">
            <a:avLst/>
          </a:prstGeom>
          <a:noFill/>
        </p:spPr>
        <p:txBody>
          <a:bodyPr vert="horz" wrap="square" lIns="0" tIns="0" rIns="0" bIns="0" rtlCol="0" anchor="t">
            <a:noAutofit/>
          </a:bodyPr>
          <a:lstStyle/>
          <a:p>
            <a:r>
              <a:rPr lang="en-US" sz="1300">
                <a:solidFill>
                  <a:srgbClr val="596579"/>
                </a:solidFill>
                <a:latin typeface="Cascadia Mono" panose="020B0609020000020004" pitchFamily="49" charset="0"/>
              </a:rPr>
              <a:t>worker runtimes</a:t>
            </a:r>
          </a:p>
        </p:txBody>
      </p:sp>
      <p:cxnSp>
        <p:nvCxnSpPr>
          <p:cNvPr id="13" name="Straight Connector 12">
            <a:extLst>
              <a:ext uri="{FF2B5EF4-FFF2-40B4-BE49-F238E27FC236}">
                <a16:creationId xmlns:a16="http://schemas.microsoft.com/office/drawing/2014/main" id="{BF86458E-127B-2E42-E390-C39D4EB7EB38}"/>
              </a:ext>
            </a:extLst>
          </p:cNvPr>
          <p:cNvCxnSpPr/>
          <p:nvPr/>
        </p:nvCxnSpPr>
        <p:spPr>
          <a:xfrm>
            <a:off x="5664200" y="5257800"/>
            <a:ext cx="0" cy="596900"/>
          </a:xfrm>
          <a:prstGeom prst="line">
            <a:avLst/>
          </a:prstGeom>
          <a:ln w="15240">
            <a:solidFill>
              <a:srgbClr val="BCC7D6"/>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01ACA55-AA75-A425-35D3-9617AD1C9CEC}"/>
              </a:ext>
            </a:extLst>
          </p:cNvPr>
          <p:cNvSpPr txBox="1"/>
          <p:nvPr/>
        </p:nvSpPr>
        <p:spPr>
          <a:xfrm>
            <a:off x="6070600" y="5283200"/>
            <a:ext cx="4572000" cy="276999"/>
          </a:xfrm>
          <a:prstGeom prst="rect">
            <a:avLst/>
          </a:prstGeom>
          <a:noFill/>
        </p:spPr>
        <p:txBody>
          <a:bodyPr vert="horz" wrap="square" lIns="0" tIns="0" rIns="0" bIns="0" rtlCol="0" anchor="t">
            <a:noAutofit/>
          </a:bodyPr>
          <a:lstStyle/>
          <a:p>
            <a:r>
              <a:rPr lang="en-US" b="1">
                <a:solidFill>
                  <a:srgbClr val="19A974"/>
                </a:solidFill>
                <a:latin typeface="Aptos" panose="020B0004020202020204" pitchFamily="34" charset="0"/>
              </a:rPr>
              <a:t>✓  Full lifecycle tested</a:t>
            </a:r>
          </a:p>
        </p:txBody>
      </p:sp>
      <p:sp>
        <p:nvSpPr>
          <p:cNvPr id="15" name="TextBox 14">
            <a:extLst>
              <a:ext uri="{FF2B5EF4-FFF2-40B4-BE49-F238E27FC236}">
                <a16:creationId xmlns:a16="http://schemas.microsoft.com/office/drawing/2014/main" id="{CF61EA5C-8595-A4B5-0243-9209806222D9}"/>
              </a:ext>
            </a:extLst>
          </p:cNvPr>
          <p:cNvSpPr txBox="1"/>
          <p:nvPr/>
        </p:nvSpPr>
        <p:spPr>
          <a:xfrm>
            <a:off x="6070600" y="5626100"/>
            <a:ext cx="4826000" cy="276999"/>
          </a:xfrm>
          <a:prstGeom prst="rect">
            <a:avLst/>
          </a:prstGeom>
          <a:noFill/>
        </p:spPr>
        <p:txBody>
          <a:bodyPr vert="horz" wrap="square" lIns="0" tIns="0" rIns="0" bIns="0" rtlCol="0" anchor="t">
            <a:noAutofit/>
          </a:bodyPr>
          <a:lstStyle/>
          <a:p>
            <a:r>
              <a:rPr lang="en-US" sz="1200">
                <a:solidFill>
                  <a:srgbClr val="0B1020"/>
                </a:solidFill>
                <a:latin typeface="Cascadia Mono" panose="020B0609020000020004" pitchFamily="49" charset="0"/>
              </a:rPr>
              <a:t>worker · DB · preview · review · publish · cleanup</a:t>
            </a:r>
          </a:p>
        </p:txBody>
      </p:sp>
      <p:sp>
        <p:nvSpPr>
          <p:cNvPr id="16" name="TextBox 15">
            <a:extLst>
              <a:ext uri="{FF2B5EF4-FFF2-40B4-BE49-F238E27FC236}">
                <a16:creationId xmlns:a16="http://schemas.microsoft.com/office/drawing/2014/main" id="{66FDDBAC-A2E0-61D6-2C42-A7C61C4EF9D0}"/>
              </a:ext>
            </a:extLst>
          </p:cNvPr>
          <p:cNvSpPr txBox="1"/>
          <p:nvPr/>
        </p:nvSpPr>
        <p:spPr>
          <a:xfrm>
            <a:off x="558800" y="6273800"/>
            <a:ext cx="10744200" cy="276999"/>
          </a:xfrm>
          <a:prstGeom prst="rect">
            <a:avLst/>
          </a:prstGeom>
          <a:noFill/>
        </p:spPr>
        <p:txBody>
          <a:bodyPr vert="horz" wrap="square" lIns="0" tIns="0" rIns="0" bIns="0" rtlCol="0" anchor="t">
            <a:noAutofit/>
          </a:bodyPr>
          <a:lstStyle/>
          <a:p>
            <a:pPr algn="ctr"/>
            <a:r>
              <a:rPr lang="en-US" sz="1400" b="1">
                <a:solidFill>
                  <a:srgbClr val="0B1020"/>
                </a:solidFill>
                <a:latin typeface="Cascadia Mono" panose="020B0609020000020004" pitchFamily="49" charset="0"/>
              </a:rPr>
              <a:t>factory new   →   factory status   →   factory go</a:t>
            </a:r>
          </a:p>
        </p:txBody>
      </p:sp>
    </p:spTree>
    <p:extLst>
      <p:ext uri="{BB962C8B-B14F-4D97-AF65-F5344CB8AC3E}">
        <p14:creationId xmlns:p14="http://schemas.microsoft.com/office/powerpoint/2010/main" val="3786768506"/>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2</TotalTime>
  <Words>1868</Words>
  <Application>Microsoft Office PowerPoint</Application>
  <PresentationFormat>Widescreen</PresentationFormat>
  <Paragraphs>269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Cascadia Mono</vt:lpstr>
      <vt:lpstr>Felix Titling</vt:lpstr>
      <vt:lpstr>Goudy Old Style</vt: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Igor Gergel</dc:creator>
  <cp:lastModifiedBy>Igor Gergel</cp:lastModifiedBy>
  <cp:revision>2</cp:revision>
  <dcterms:created xsi:type="dcterms:W3CDTF">2026-08-16T23:13:00Z</dcterms:created>
  <dcterms:modified xsi:type="dcterms:W3CDTF">2026-08-17T08:00:28Z</dcterms:modified>
</cp:coreProperties>
</file>